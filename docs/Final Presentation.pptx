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5143500" cx="9144000"/>
  <p:notesSz cx="6858000" cy="9144000"/>
  <p:embeddedFontLst>
    <p:embeddedFont>
      <p:font typeface="Golos Text"/>
      <p:regular r:id="rId35"/>
      <p:bold r:id="rId36"/>
    </p:embeddedFont>
    <p:embeddedFont>
      <p:font typeface="Commissioner"/>
      <p:regular r:id="rId37"/>
      <p:bold r:id="rId38"/>
    </p:embeddedFont>
    <p:embeddedFont>
      <p:font typeface="Golos Text SemiBold"/>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GolosTextSemiBold-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GolosText-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Commissioner-regular.fntdata"/><Relationship Id="rId14" Type="http://schemas.openxmlformats.org/officeDocument/2006/relationships/slide" Target="slides/slide10.xml"/><Relationship Id="rId36" Type="http://schemas.openxmlformats.org/officeDocument/2006/relationships/font" Target="fonts/GolosText-bold.fntdata"/><Relationship Id="rId17" Type="http://schemas.openxmlformats.org/officeDocument/2006/relationships/slide" Target="slides/slide13.xml"/><Relationship Id="rId39" Type="http://schemas.openxmlformats.org/officeDocument/2006/relationships/font" Target="fonts/GolosTextSemiBold-regular.fntdata"/><Relationship Id="rId16" Type="http://schemas.openxmlformats.org/officeDocument/2006/relationships/slide" Target="slides/slide12.xml"/><Relationship Id="rId38" Type="http://schemas.openxmlformats.org/officeDocument/2006/relationships/font" Target="fonts/Commissioner-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747bfd1ed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747bfd1ed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747bfd1ede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747bfd1ede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336d459b9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336d459b9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3b627a12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3b627a12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43df0acb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43df0acb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Earth observation data such as ERA5 is critical for climate related tasks. This is accessed at the 25 km resolution, but is </a:t>
            </a:r>
            <a:r>
              <a:rPr lang="en"/>
              <a:t>often</a:t>
            </a:r>
            <a:r>
              <a:rPr lang="en"/>
              <a:t> too coarse to be applied for tasks at the sub km level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db832d27e9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db832d27e9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Deterministic, often use RCMs during the intermediate scaling steps.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b832d27e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db832d27e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db832d27e9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db832d27e9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75584fc2f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75584fc2f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1d0e38a952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1d0e38a952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b832d27e9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db832d27e9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dbcae3a0c1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dbcae3a0c1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b87872b4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db87872b4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dbcae3a0c1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dbcae3a0c1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b87872b4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db87872b4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b832d27e9_1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db832d27e9_1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dbcae3a0c1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dbcae3a0c1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c0664d73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dc0664d73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b832d27e9_1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db832d27e9_1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dbcae3a0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dbcae3a0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dc1e8465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dc1e8465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AEF embeddings improve downscaling skill,</a:t>
            </a:r>
            <a:r>
              <a:rPr lang="en">
                <a:solidFill>
                  <a:schemeClr val="dk1"/>
                </a:solidFill>
              </a:rPr>
              <a:t> </a:t>
            </a:r>
            <a:r>
              <a:rPr b="1" lang="en">
                <a:solidFill>
                  <a:schemeClr val="dk1"/>
                </a:solidFill>
              </a:rPr>
              <a:t>XGBoost+AEF reduces RMSE by 20.2% over bicubic</a:t>
            </a:r>
            <a:r>
              <a:rPr lang="en">
                <a:solidFill>
                  <a:schemeClr val="dk1"/>
                </a:solidFill>
              </a:rPr>
              <a:t> (1.12 → 0.90 mm/day) and adds an additional improvement over XGBoost without AEF (0.92 → 0.90). The R² jumps from −0.29 (bicubic, worse than predicting the mean) to +0.18 (XGB+AEF, capturing meaningful variance). Negative R² for bicubic confirms that simply upsampling the coarse field is </a:t>
            </a:r>
            <a:r>
              <a:rPr i="1" lang="en">
                <a:solidFill>
                  <a:schemeClr val="dk1"/>
                </a:solidFill>
              </a:rPr>
              <a:t>worse</a:t>
            </a:r>
            <a:r>
              <a:rPr lang="en">
                <a:solidFill>
                  <a:schemeClr val="dk1"/>
                </a:solidFill>
              </a:rPr>
              <a:t> than predicting the spatial mean — bicubic over-amplifies coarse-resolution patterns where they don't belong.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50">
              <a:solidFill>
                <a:srgbClr val="0A0A0A"/>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dc1e84652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dc1e84652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The upper plots are the</a:t>
            </a:r>
            <a:r>
              <a:rPr lang="en" sz="1200">
                <a:solidFill>
                  <a:schemeClr val="dk1"/>
                </a:solidFill>
              </a:rPr>
              <a:t> recursive downscaling from ERA5 25 km to 1.5625 km, the right side is the PRISM 800m ground truth, and the down sides are the spread plots for measuring uncertainty, we can see that XGBoost adds more fine-scale texture along the steps, with a gradually growing uncertainty, but it is still very different from the prism ground truth, leading to a larger RMSE, and I think it is because the XGboost overpredicts, and also because of the bias we had between the ERA5 and PRISM data because it is already very different from the start.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dc1e84652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dc1e84652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c1e84652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dc1e84652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CFM produces a smoother and more conservative field that is much closer to PRISM, with a much lower RMSE of </a:t>
            </a:r>
            <a:r>
              <a:rPr b="1" lang="en" sz="1200">
                <a:solidFill>
                  <a:schemeClr val="dk1"/>
                </a:solidFill>
                <a:latin typeface="Times New Roman"/>
                <a:ea typeface="Times New Roman"/>
                <a:cs typeface="Times New Roman"/>
                <a:sym typeface="Times New Roman"/>
              </a:rPr>
              <a:t>0.26 mm vs. 1.33mm </a:t>
            </a:r>
            <a:r>
              <a:rPr lang="en" sz="1200">
                <a:solidFill>
                  <a:schemeClr val="dk1"/>
                </a:solidFill>
                <a:latin typeface="Times New Roman"/>
                <a:ea typeface="Times New Roman"/>
                <a:cs typeface="Times New Roman"/>
                <a:sym typeface="Times New Roman"/>
              </a:rPr>
              <a:t>in XGBoost</a:t>
            </a:r>
            <a:r>
              <a:rPr b="1" lang="en" sz="1200">
                <a:solidFill>
                  <a:schemeClr val="dk1"/>
                </a:solidFill>
                <a:latin typeface="Times New Roman"/>
                <a:ea typeface="Times New Roman"/>
                <a:cs typeface="Times New Roman"/>
                <a:sym typeface="Times New Roman"/>
              </a:rPr>
              <a:t> </a:t>
            </a:r>
            <a:r>
              <a:rPr lang="en" sz="1200">
                <a:solidFill>
                  <a:schemeClr val="dk1"/>
                </a:solidFill>
                <a:latin typeface="Times New Roman"/>
                <a:ea typeface="Times New Roman"/>
                <a:cs typeface="Times New Roman"/>
                <a:sym typeface="Times New Roman"/>
              </a:rPr>
              <a:t>in this example, although its spread decreases rather than grows across steps, meaning </a:t>
            </a:r>
            <a:r>
              <a:rPr lang="en">
                <a:solidFill>
                  <a:srgbClr val="1D1C1D"/>
                </a:solidFill>
              </a:rPr>
              <a:t>the cfm model underestimates,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dc1e846522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dc1e84652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CFM is generally more accurate than XGBoost in RMSE and CRPS. </a:t>
            </a:r>
            <a:r>
              <a:rPr lang="en" sz="1400">
                <a:solidFill>
                  <a:schemeClr val="dk1"/>
                </a:solidFill>
                <a:latin typeface="Times New Roman"/>
                <a:ea typeface="Times New Roman"/>
                <a:cs typeface="Times New Roman"/>
                <a:sym typeface="Times New Roman"/>
              </a:rPr>
              <a:t>it tends to produce conservative, uncertain ensembles, </a:t>
            </a:r>
            <a:r>
              <a:rPr lang="en" sz="1200">
                <a:solidFill>
                  <a:schemeClr val="dk1"/>
                </a:solidFill>
              </a:rPr>
              <a:t>XGBoost does has better spread/skill, but as I mentioned, it t</a:t>
            </a:r>
            <a:r>
              <a:rPr lang="en" sz="1400">
                <a:solidFill>
                  <a:schemeClr val="dk1"/>
                </a:solidFill>
                <a:latin typeface="Times New Roman"/>
                <a:ea typeface="Times New Roman"/>
                <a:cs typeface="Times New Roman"/>
                <a:sym typeface="Times New Roman"/>
              </a:rPr>
              <a:t>ends to overestimate with high certainty inflating its ensemble validation metrics. And</a:t>
            </a:r>
            <a:r>
              <a:rPr lang="en" sz="1200">
                <a:solidFill>
                  <a:schemeClr val="dk1"/>
                </a:solidFill>
              </a:rPr>
              <a:t> CFM still needs better uncertainty calibration and we think more data would </a:t>
            </a:r>
            <a:r>
              <a:rPr lang="en" sz="1200">
                <a:solidFill>
                  <a:schemeClr val="dk1"/>
                </a:solidFill>
              </a:rPr>
              <a:t>definitely</a:t>
            </a:r>
            <a:r>
              <a:rPr lang="en" sz="1200">
                <a:solidFill>
                  <a:schemeClr val="dk1"/>
                </a:solidFill>
              </a:rPr>
              <a:t> make it work better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dbcae3a0c1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dbcae3a0c1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c1e84652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dc1e84652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dbcae3a0c1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dbcae3a0c1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dbcae3a0c1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dbcae3a0c1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dbcae3a0c1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dbcae3a0c1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s://freepik.com/" TargetMode="External"/><Relationship Id="rId4" Type="http://schemas.openxmlformats.org/officeDocument/2006/relationships/hyperlink" Target="https://freepik.com/"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014550"/>
            <a:ext cx="5602200" cy="2219700"/>
          </a:xfrm>
          <a:prstGeom prst="rect">
            <a:avLst/>
          </a:prstGeom>
        </p:spPr>
        <p:txBody>
          <a:bodyPr anchorCtr="0" anchor="b" bIns="91425" lIns="91425" spcFirstLastPara="1" rIns="91425" wrap="square" tIns="91425">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p:txBody>
      </p:sp>
      <p:sp>
        <p:nvSpPr>
          <p:cNvPr id="10" name="Google Shape;10;p2"/>
          <p:cNvSpPr txBox="1"/>
          <p:nvPr>
            <p:ph idx="1" type="subTitle"/>
          </p:nvPr>
        </p:nvSpPr>
        <p:spPr>
          <a:xfrm>
            <a:off x="713225" y="3315975"/>
            <a:ext cx="5602200" cy="726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p:txBody>
      </p:sp>
      <p:sp>
        <p:nvSpPr>
          <p:cNvPr id="11" name="Google Shape;11;p2"/>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55375" y="539500"/>
            <a:ext cx="9199350" cy="4604000"/>
            <a:chOff x="-55375" y="539500"/>
            <a:chExt cx="9199350" cy="4604000"/>
          </a:xfrm>
        </p:grpSpPr>
        <p:cxnSp>
          <p:nvCxnSpPr>
            <p:cNvPr id="13" name="Google Shape;13;p2"/>
            <p:cNvCxnSpPr/>
            <p:nvPr/>
          </p:nvCxnSpPr>
          <p:spPr>
            <a:xfrm>
              <a:off x="-55375" y="4608575"/>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14" name="Google Shape;14;p2"/>
            <p:cNvCxnSpPr/>
            <p:nvPr/>
          </p:nvCxnSpPr>
          <p:spPr>
            <a:xfrm>
              <a:off x="4751675" y="539500"/>
              <a:ext cx="4392300" cy="0"/>
            </a:xfrm>
            <a:prstGeom prst="straightConnector1">
              <a:avLst/>
            </a:prstGeom>
            <a:noFill/>
            <a:ln cap="flat" cmpd="sng" w="9525">
              <a:solidFill>
                <a:schemeClr val="dk1"/>
              </a:solidFill>
              <a:prstDash val="solid"/>
              <a:round/>
              <a:headEnd len="med" w="med" type="none"/>
              <a:tailEnd len="med" w="med" type="none"/>
            </a:ln>
          </p:spPr>
        </p:cxnSp>
        <p:cxnSp>
          <p:nvCxnSpPr>
            <p:cNvPr id="15" name="Google Shape;15;p2"/>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p:txBody>
      </p:sp>
      <p:sp>
        <p:nvSpPr>
          <p:cNvPr id="18" name="Google Shape;18;p3"/>
          <p:cNvSpPr txBox="1"/>
          <p:nvPr>
            <p:ph hasCustomPrompt="1" idx="2" type="title"/>
          </p:nvPr>
        </p:nvSpPr>
        <p:spPr>
          <a:xfrm>
            <a:off x="1512075" y="1012500"/>
            <a:ext cx="1076100" cy="8700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5300"/>
              <a:buNone/>
              <a:defRPr sz="4200"/>
            </a:lvl1pPr>
            <a:lvl2pPr lvl="1" rtl="0" algn="ctr">
              <a:spcBef>
                <a:spcPts val="0"/>
              </a:spcBef>
              <a:spcAft>
                <a:spcPts val="0"/>
              </a:spcAft>
              <a:buSzPts val="5300"/>
              <a:buNone/>
              <a:defRPr sz="5300"/>
            </a:lvl2pPr>
            <a:lvl3pPr lvl="2" rtl="0" algn="ctr">
              <a:spcBef>
                <a:spcPts val="0"/>
              </a:spcBef>
              <a:spcAft>
                <a:spcPts val="0"/>
              </a:spcAft>
              <a:buSzPts val="5300"/>
              <a:buNone/>
              <a:defRPr sz="5300"/>
            </a:lvl3pPr>
            <a:lvl4pPr lvl="3" rtl="0" algn="ctr">
              <a:spcBef>
                <a:spcPts val="0"/>
              </a:spcBef>
              <a:spcAft>
                <a:spcPts val="0"/>
              </a:spcAft>
              <a:buSzPts val="5300"/>
              <a:buNone/>
              <a:defRPr sz="5300"/>
            </a:lvl4pPr>
            <a:lvl5pPr lvl="4" rtl="0" algn="ctr">
              <a:spcBef>
                <a:spcPts val="0"/>
              </a:spcBef>
              <a:spcAft>
                <a:spcPts val="0"/>
              </a:spcAft>
              <a:buSzPts val="5300"/>
              <a:buNone/>
              <a:defRPr sz="5300"/>
            </a:lvl5pPr>
            <a:lvl6pPr lvl="5" rtl="0" algn="ctr">
              <a:spcBef>
                <a:spcPts val="0"/>
              </a:spcBef>
              <a:spcAft>
                <a:spcPts val="0"/>
              </a:spcAft>
              <a:buSzPts val="5300"/>
              <a:buNone/>
              <a:defRPr sz="5300"/>
            </a:lvl6pPr>
            <a:lvl7pPr lvl="6" rtl="0" algn="ctr">
              <a:spcBef>
                <a:spcPts val="0"/>
              </a:spcBef>
              <a:spcAft>
                <a:spcPts val="0"/>
              </a:spcAft>
              <a:buSzPts val="5300"/>
              <a:buNone/>
              <a:defRPr sz="5300"/>
            </a:lvl7pPr>
            <a:lvl8pPr lvl="7" rtl="0" algn="ctr">
              <a:spcBef>
                <a:spcPts val="0"/>
              </a:spcBef>
              <a:spcAft>
                <a:spcPts val="0"/>
              </a:spcAft>
              <a:buSzPts val="5300"/>
              <a:buNone/>
              <a:defRPr sz="5300"/>
            </a:lvl8pPr>
            <a:lvl9pPr lvl="8" rtl="0" algn="ctr">
              <a:spcBef>
                <a:spcPts val="0"/>
              </a:spcBef>
              <a:spcAft>
                <a:spcPts val="0"/>
              </a:spcAft>
              <a:buSzPts val="5300"/>
              <a:buNone/>
              <a:defRPr sz="5300"/>
            </a:lvl9pPr>
          </a:lstStyle>
          <a:p>
            <a:r>
              <a:t>xx%</a:t>
            </a:r>
          </a:p>
        </p:txBody>
      </p:sp>
      <p:sp>
        <p:nvSpPr>
          <p:cNvPr id="19" name="Google Shape;19;p3"/>
          <p:cNvSpPr txBox="1"/>
          <p:nvPr>
            <p:ph idx="1" type="subTitle"/>
          </p:nvPr>
        </p:nvSpPr>
        <p:spPr>
          <a:xfrm>
            <a:off x="1512075" y="3573275"/>
            <a:ext cx="4944900" cy="697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850"/>
              <a:buNone/>
              <a:defRPr sz="1550"/>
            </a:lvl1pPr>
            <a:lvl2pPr lvl="1" rtl="0" algn="r">
              <a:lnSpc>
                <a:spcPct val="115000"/>
              </a:lnSpc>
              <a:spcBef>
                <a:spcPts val="0"/>
              </a:spcBef>
              <a:spcAft>
                <a:spcPts val="0"/>
              </a:spcAft>
              <a:buSzPts val="1850"/>
              <a:buNone/>
              <a:defRPr sz="1850"/>
            </a:lvl2pPr>
            <a:lvl3pPr lvl="2" rtl="0" algn="r">
              <a:lnSpc>
                <a:spcPct val="115000"/>
              </a:lnSpc>
              <a:spcBef>
                <a:spcPts val="0"/>
              </a:spcBef>
              <a:spcAft>
                <a:spcPts val="0"/>
              </a:spcAft>
              <a:buSzPts val="1850"/>
              <a:buNone/>
              <a:defRPr sz="1850"/>
            </a:lvl3pPr>
            <a:lvl4pPr lvl="3" rtl="0" algn="r">
              <a:lnSpc>
                <a:spcPct val="115000"/>
              </a:lnSpc>
              <a:spcBef>
                <a:spcPts val="0"/>
              </a:spcBef>
              <a:spcAft>
                <a:spcPts val="0"/>
              </a:spcAft>
              <a:buSzPts val="1850"/>
              <a:buNone/>
              <a:defRPr sz="1850"/>
            </a:lvl4pPr>
            <a:lvl5pPr lvl="4" rtl="0" algn="r">
              <a:lnSpc>
                <a:spcPct val="115000"/>
              </a:lnSpc>
              <a:spcBef>
                <a:spcPts val="0"/>
              </a:spcBef>
              <a:spcAft>
                <a:spcPts val="0"/>
              </a:spcAft>
              <a:buSzPts val="1850"/>
              <a:buNone/>
              <a:defRPr sz="1850"/>
            </a:lvl5pPr>
            <a:lvl6pPr lvl="5" rtl="0" algn="r">
              <a:lnSpc>
                <a:spcPct val="115000"/>
              </a:lnSpc>
              <a:spcBef>
                <a:spcPts val="0"/>
              </a:spcBef>
              <a:spcAft>
                <a:spcPts val="0"/>
              </a:spcAft>
              <a:buSzPts val="1850"/>
              <a:buNone/>
              <a:defRPr sz="1850"/>
            </a:lvl6pPr>
            <a:lvl7pPr lvl="6" rtl="0" algn="r">
              <a:lnSpc>
                <a:spcPct val="115000"/>
              </a:lnSpc>
              <a:spcBef>
                <a:spcPts val="0"/>
              </a:spcBef>
              <a:spcAft>
                <a:spcPts val="0"/>
              </a:spcAft>
              <a:buSzPts val="1850"/>
              <a:buNone/>
              <a:defRPr sz="1850"/>
            </a:lvl7pPr>
            <a:lvl8pPr lvl="7" rtl="0" algn="r">
              <a:lnSpc>
                <a:spcPct val="115000"/>
              </a:lnSpc>
              <a:spcBef>
                <a:spcPts val="0"/>
              </a:spcBef>
              <a:spcAft>
                <a:spcPts val="0"/>
              </a:spcAft>
              <a:buSzPts val="1850"/>
              <a:buNone/>
              <a:defRPr sz="1850"/>
            </a:lvl8pPr>
            <a:lvl9pPr lvl="8" rtl="0" algn="r">
              <a:lnSpc>
                <a:spcPct val="115000"/>
              </a:lnSpc>
              <a:spcBef>
                <a:spcPts val="0"/>
              </a:spcBef>
              <a:spcAft>
                <a:spcPts val="0"/>
              </a:spcAft>
              <a:buSzPts val="1850"/>
              <a:buNone/>
              <a:defRPr sz="1850"/>
            </a:lvl9pPr>
          </a:lstStyle>
          <a:p/>
        </p:txBody>
      </p:sp>
      <p:sp>
        <p:nvSpPr>
          <p:cNvPr id="20" name="Google Shape;20;p3"/>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 name="Google Shape;21;p3"/>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4" name="Google Shape;24;p4"/>
          <p:cNvSpPr txBox="1"/>
          <p:nvPr>
            <p:ph idx="1" type="subTitle"/>
          </p:nvPr>
        </p:nvSpPr>
        <p:spPr>
          <a:xfrm>
            <a:off x="713250" y="1217050"/>
            <a:ext cx="77175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 name="Google Shape;25;p4"/>
          <p:cNvSpPr/>
          <p:nvPr/>
        </p:nvSpPr>
        <p:spPr>
          <a:xfrm flipH="1">
            <a:off x="0" y="0"/>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 name="Google Shape;26;p4"/>
          <p:cNvGrpSpPr/>
          <p:nvPr/>
        </p:nvGrpSpPr>
        <p:grpSpPr>
          <a:xfrm>
            <a:off x="150" y="0"/>
            <a:ext cx="8860050" cy="4876025"/>
            <a:chOff x="150" y="0"/>
            <a:chExt cx="8860050" cy="4876025"/>
          </a:xfrm>
        </p:grpSpPr>
        <p:cxnSp>
          <p:nvCxnSpPr>
            <p:cNvPr id="27" name="Google Shape;27;p4"/>
            <p:cNvCxnSpPr/>
            <p:nvPr/>
          </p:nvCxnSpPr>
          <p:spPr>
            <a:xfrm>
              <a:off x="8860200" y="0"/>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28" name="Google Shape;28;p4"/>
            <p:cNvCxnSpPr/>
            <p:nvPr/>
          </p:nvCxnSpPr>
          <p:spPr>
            <a:xfrm rot="10800000">
              <a:off x="150" y="4876025"/>
              <a:ext cx="84447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1" name="Google Shape;31;p5"/>
          <p:cNvSpPr txBox="1"/>
          <p:nvPr>
            <p:ph idx="1" type="subTitle"/>
          </p:nvPr>
        </p:nvSpPr>
        <p:spPr>
          <a:xfrm>
            <a:off x="2954672" y="2027976"/>
            <a:ext cx="43122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2" name="Google Shape;32;p5"/>
          <p:cNvSpPr txBox="1"/>
          <p:nvPr>
            <p:ph idx="2" type="subTitle"/>
          </p:nvPr>
        </p:nvSpPr>
        <p:spPr>
          <a:xfrm>
            <a:off x="2954672" y="1519425"/>
            <a:ext cx="43122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33" name="Google Shape;33;p5"/>
          <p:cNvSpPr txBox="1"/>
          <p:nvPr>
            <p:ph idx="3" type="subTitle"/>
          </p:nvPr>
        </p:nvSpPr>
        <p:spPr>
          <a:xfrm>
            <a:off x="2954649" y="3619500"/>
            <a:ext cx="43122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4" name="Google Shape;34;p5"/>
          <p:cNvSpPr txBox="1"/>
          <p:nvPr>
            <p:ph idx="4" type="subTitle"/>
          </p:nvPr>
        </p:nvSpPr>
        <p:spPr>
          <a:xfrm>
            <a:off x="2954649" y="3110949"/>
            <a:ext cx="43122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35" name="Google Shape;35;p5"/>
          <p:cNvSpPr/>
          <p:nvPr/>
        </p:nvSpPr>
        <p:spPr>
          <a:xfrm flipH="1">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 name="Google Shape;36;p5"/>
          <p:cNvCxnSpPr/>
          <p:nvPr/>
        </p:nvCxnSpPr>
        <p:spPr>
          <a:xfrm rot="10800000">
            <a:off x="8864825" y="0"/>
            <a:ext cx="0" cy="4131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9" name="Google Shape;39;p6"/>
          <p:cNvSpPr/>
          <p:nvPr/>
        </p:nvSpPr>
        <p:spPr>
          <a:xfrm>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6"/>
          <p:cNvGrpSpPr/>
          <p:nvPr/>
        </p:nvGrpSpPr>
        <p:grpSpPr>
          <a:xfrm>
            <a:off x="141900" y="-26"/>
            <a:ext cx="9002025" cy="4876051"/>
            <a:chOff x="141900" y="-26"/>
            <a:chExt cx="9002025" cy="4876051"/>
          </a:xfrm>
        </p:grpSpPr>
        <p:cxnSp>
          <p:nvCxnSpPr>
            <p:cNvPr id="41" name="Google Shape;41;p6"/>
            <p:cNvCxnSpPr/>
            <p:nvPr/>
          </p:nvCxnSpPr>
          <p:spPr>
            <a:xfrm>
              <a:off x="4576425" y="4876025"/>
              <a:ext cx="4567500" cy="0"/>
            </a:xfrm>
            <a:prstGeom prst="straightConnector1">
              <a:avLst/>
            </a:prstGeom>
            <a:noFill/>
            <a:ln cap="flat" cmpd="sng" w="9525">
              <a:solidFill>
                <a:schemeClr val="dk1"/>
              </a:solidFill>
              <a:prstDash val="solid"/>
              <a:round/>
              <a:headEnd len="med" w="med" type="none"/>
              <a:tailEnd len="med" w="med" type="none"/>
            </a:ln>
          </p:spPr>
        </p:cxnSp>
        <p:cxnSp>
          <p:nvCxnSpPr>
            <p:cNvPr id="42" name="Google Shape;42;p6"/>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7"/>
          <p:cNvSpPr txBox="1"/>
          <p:nvPr>
            <p:ph type="title"/>
          </p:nvPr>
        </p:nvSpPr>
        <p:spPr>
          <a:xfrm>
            <a:off x="713225" y="519075"/>
            <a:ext cx="2789700" cy="1971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p:txBody>
      </p:sp>
      <p:sp>
        <p:nvSpPr>
          <p:cNvPr id="45" name="Google Shape;45;p7"/>
          <p:cNvSpPr txBox="1"/>
          <p:nvPr>
            <p:ph idx="1" type="subTitle"/>
          </p:nvPr>
        </p:nvSpPr>
        <p:spPr>
          <a:xfrm>
            <a:off x="713225" y="2558881"/>
            <a:ext cx="2789700" cy="1395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6" name="Google Shape;46;p7"/>
          <p:cNvSpPr/>
          <p:nvPr>
            <p:ph idx="2" type="pic"/>
          </p:nvPr>
        </p:nvSpPr>
        <p:spPr>
          <a:xfrm>
            <a:off x="4572000" y="0"/>
            <a:ext cx="4572000" cy="5143500"/>
          </a:xfrm>
          <a:prstGeom prst="rect">
            <a:avLst/>
          </a:prstGeom>
          <a:noFill/>
          <a:ln>
            <a:noFill/>
          </a:ln>
        </p:spPr>
      </p:sp>
      <p:sp>
        <p:nvSpPr>
          <p:cNvPr id="47" name="Google Shape;47;p7"/>
          <p:cNvSpPr/>
          <p:nvPr/>
        </p:nvSpPr>
        <p:spPr>
          <a:xfrm>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 name="Google Shape;48;p7"/>
          <p:cNvGrpSpPr/>
          <p:nvPr/>
        </p:nvGrpSpPr>
        <p:grpSpPr>
          <a:xfrm>
            <a:off x="0" y="-300"/>
            <a:ext cx="3812275" cy="4608875"/>
            <a:chOff x="0" y="-300"/>
            <a:chExt cx="3812275" cy="4608875"/>
          </a:xfrm>
        </p:grpSpPr>
        <p:cxnSp>
          <p:nvCxnSpPr>
            <p:cNvPr id="49" name="Google Shape;49;p7"/>
            <p:cNvCxnSpPr/>
            <p:nvPr/>
          </p:nvCxnSpPr>
          <p:spPr>
            <a:xfrm rot="10800000">
              <a:off x="3812275" y="-300"/>
              <a:ext cx="0" cy="699000"/>
            </a:xfrm>
            <a:prstGeom prst="straightConnector1">
              <a:avLst/>
            </a:prstGeom>
            <a:noFill/>
            <a:ln cap="flat" cmpd="sng" w="9525">
              <a:solidFill>
                <a:schemeClr val="dk1"/>
              </a:solidFill>
              <a:prstDash val="solid"/>
              <a:round/>
              <a:headEnd len="med" w="med" type="none"/>
              <a:tailEnd len="med" w="med" type="none"/>
            </a:ln>
          </p:spPr>
        </p:cxnSp>
        <p:cxnSp>
          <p:nvCxnSpPr>
            <p:cNvPr id="50" name="Google Shape;50;p7"/>
            <p:cNvCxnSpPr/>
            <p:nvPr/>
          </p:nvCxnSpPr>
          <p:spPr>
            <a:xfrm>
              <a:off x="0" y="4608575"/>
              <a:ext cx="3387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8"/>
          <p:cNvSpPr txBox="1"/>
          <p:nvPr>
            <p:ph type="title"/>
          </p:nvPr>
        </p:nvSpPr>
        <p:spPr>
          <a:xfrm>
            <a:off x="1864800" y="1219025"/>
            <a:ext cx="5414400" cy="2298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p:txBody>
      </p:sp>
      <p:sp>
        <p:nvSpPr>
          <p:cNvPr id="53" name="Google Shape;53;p8"/>
          <p:cNvSpPr/>
          <p:nvPr/>
        </p:nvSpPr>
        <p:spPr>
          <a:xfrm flipH="1">
            <a:off x="-55375"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8"/>
          <p:cNvGrpSpPr/>
          <p:nvPr/>
        </p:nvGrpSpPr>
        <p:grpSpPr>
          <a:xfrm flipH="1">
            <a:off x="-55200" y="539500"/>
            <a:ext cx="9199200" cy="4604000"/>
            <a:chOff x="-55375" y="539500"/>
            <a:chExt cx="9199200" cy="4604000"/>
          </a:xfrm>
        </p:grpSpPr>
        <p:cxnSp>
          <p:nvCxnSpPr>
            <p:cNvPr id="55" name="Google Shape;55;p8"/>
            <p:cNvCxnSpPr/>
            <p:nvPr/>
          </p:nvCxnSpPr>
          <p:spPr>
            <a:xfrm>
              <a:off x="-55375" y="4608575"/>
              <a:ext cx="5659200" cy="0"/>
            </a:xfrm>
            <a:prstGeom prst="straightConnector1">
              <a:avLst/>
            </a:prstGeom>
            <a:noFill/>
            <a:ln cap="flat" cmpd="sng" w="9525">
              <a:solidFill>
                <a:schemeClr val="dk1"/>
              </a:solidFill>
              <a:prstDash val="solid"/>
              <a:round/>
              <a:headEnd len="med" w="med" type="none"/>
              <a:tailEnd len="med" w="med" type="none"/>
            </a:ln>
          </p:spPr>
        </p:cxnSp>
        <p:cxnSp>
          <p:nvCxnSpPr>
            <p:cNvPr id="56" name="Google Shape;56;p8"/>
            <p:cNvCxnSpPr/>
            <p:nvPr/>
          </p:nvCxnSpPr>
          <p:spPr>
            <a:xfrm>
              <a:off x="4502525" y="539500"/>
              <a:ext cx="46413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8"/>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1962900" y="829786"/>
            <a:ext cx="5218200" cy="13386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p:txBody>
      </p:sp>
      <p:sp>
        <p:nvSpPr>
          <p:cNvPr id="60" name="Google Shape;60;p9"/>
          <p:cNvSpPr txBox="1"/>
          <p:nvPr>
            <p:ph idx="1" type="subTitle"/>
          </p:nvPr>
        </p:nvSpPr>
        <p:spPr>
          <a:xfrm>
            <a:off x="1962900" y="2282714"/>
            <a:ext cx="5218200" cy="2031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p:txBody>
      </p:sp>
      <p:sp>
        <p:nvSpPr>
          <p:cNvPr id="61" name="Google Shape;61;p9"/>
          <p:cNvSpPr/>
          <p:nvPr/>
        </p:nvSpPr>
        <p:spPr>
          <a:xfrm>
            <a:off x="75" y="4426700"/>
            <a:ext cx="9144000" cy="71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 name="Google Shape;62;p9"/>
          <p:cNvGrpSpPr/>
          <p:nvPr/>
        </p:nvGrpSpPr>
        <p:grpSpPr>
          <a:xfrm>
            <a:off x="712700" y="539500"/>
            <a:ext cx="8431300" cy="4604000"/>
            <a:chOff x="712700" y="539500"/>
            <a:chExt cx="8431300" cy="4604000"/>
          </a:xfrm>
        </p:grpSpPr>
        <p:cxnSp>
          <p:nvCxnSpPr>
            <p:cNvPr id="63" name="Google Shape;63;p9"/>
            <p:cNvCxnSpPr/>
            <p:nvPr/>
          </p:nvCxnSpPr>
          <p:spPr>
            <a:xfrm>
              <a:off x="4572000" y="539500"/>
              <a:ext cx="4572000" cy="0"/>
            </a:xfrm>
            <a:prstGeom prst="straightConnector1">
              <a:avLst/>
            </a:prstGeom>
            <a:noFill/>
            <a:ln cap="flat" cmpd="sng" w="9525">
              <a:solidFill>
                <a:schemeClr val="dk1"/>
              </a:solidFill>
              <a:prstDash val="solid"/>
              <a:round/>
              <a:headEnd len="med" w="med" type="none"/>
              <a:tailEnd len="med" w="med" type="none"/>
            </a:ln>
          </p:spPr>
        </p:cxnSp>
        <p:cxnSp>
          <p:nvCxnSpPr>
            <p:cNvPr id="64" name="Google Shape;64;p9"/>
            <p:cNvCxnSpPr/>
            <p:nvPr/>
          </p:nvCxnSpPr>
          <p:spPr>
            <a:xfrm rot="10800000">
              <a:off x="712700" y="1685400"/>
              <a:ext cx="0" cy="34581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10"/>
          <p:cNvSpPr/>
          <p:nvPr>
            <p:ph idx="2" type="pic"/>
          </p:nvPr>
        </p:nvSpPr>
        <p:spPr>
          <a:xfrm>
            <a:off x="0" y="0"/>
            <a:ext cx="9144000" cy="5143500"/>
          </a:xfrm>
          <a:prstGeom prst="rect">
            <a:avLst/>
          </a:prstGeom>
          <a:noFill/>
          <a:ln>
            <a:noFill/>
          </a:ln>
        </p:spPr>
      </p:sp>
      <p:sp>
        <p:nvSpPr>
          <p:cNvPr id="67" name="Google Shape;67;p10"/>
          <p:cNvSpPr txBox="1"/>
          <p:nvPr>
            <p:ph type="title"/>
          </p:nvPr>
        </p:nvSpPr>
        <p:spPr>
          <a:xfrm>
            <a:off x="713225" y="3946875"/>
            <a:ext cx="7717500" cy="6618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lgn="l">
              <a:spcBef>
                <a:spcPts val="0"/>
              </a:spcBef>
              <a:spcAft>
                <a:spcPts val="0"/>
              </a:spcAft>
              <a:buSzPts val="3100"/>
              <a:buNone/>
              <a:defRPr/>
            </a:lvl2pPr>
            <a:lvl3pPr lvl="2" rtl="0" algn="l">
              <a:spcBef>
                <a:spcPts val="0"/>
              </a:spcBef>
              <a:spcAft>
                <a:spcPts val="0"/>
              </a:spcAft>
              <a:buSzPts val="3100"/>
              <a:buNone/>
              <a:defRPr/>
            </a:lvl3pPr>
            <a:lvl4pPr lvl="3" rtl="0" algn="l">
              <a:spcBef>
                <a:spcPts val="0"/>
              </a:spcBef>
              <a:spcAft>
                <a:spcPts val="0"/>
              </a:spcAft>
              <a:buSzPts val="3100"/>
              <a:buNone/>
              <a:defRPr/>
            </a:lvl4pPr>
            <a:lvl5pPr lvl="4" rtl="0" algn="l">
              <a:spcBef>
                <a:spcPts val="0"/>
              </a:spcBef>
              <a:spcAft>
                <a:spcPts val="0"/>
              </a:spcAft>
              <a:buSzPts val="3100"/>
              <a:buNone/>
              <a:defRPr/>
            </a:lvl5pPr>
            <a:lvl6pPr lvl="5" rtl="0" algn="l">
              <a:spcBef>
                <a:spcPts val="0"/>
              </a:spcBef>
              <a:spcAft>
                <a:spcPts val="0"/>
              </a:spcAft>
              <a:buSzPts val="3100"/>
              <a:buNone/>
              <a:defRPr/>
            </a:lvl6pPr>
            <a:lvl7pPr lvl="6" rtl="0" algn="l">
              <a:spcBef>
                <a:spcPts val="0"/>
              </a:spcBef>
              <a:spcAft>
                <a:spcPts val="0"/>
              </a:spcAft>
              <a:buSzPts val="3100"/>
              <a:buNone/>
              <a:defRPr/>
            </a:lvl7pPr>
            <a:lvl8pPr lvl="7" rtl="0" algn="l">
              <a:spcBef>
                <a:spcPts val="0"/>
              </a:spcBef>
              <a:spcAft>
                <a:spcPts val="0"/>
              </a:spcAft>
              <a:buSzPts val="3100"/>
              <a:buNone/>
              <a:defRPr/>
            </a:lvl8pPr>
            <a:lvl9pPr lvl="8" rtl="0" algn="l">
              <a:spcBef>
                <a:spcPts val="0"/>
              </a:spcBef>
              <a:spcAft>
                <a:spcPts val="0"/>
              </a:spcAft>
              <a:buSzPts val="3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8" name="Shape 68"/>
        <p:cNvGrpSpPr/>
        <p:nvPr/>
      </p:nvGrpSpPr>
      <p:grpSpPr>
        <a:xfrm>
          <a:off x="0" y="0"/>
          <a:ext cx="0" cy="0"/>
          <a:chOff x="0" y="0"/>
          <a:chExt cx="0" cy="0"/>
        </a:xfrm>
      </p:grpSpPr>
      <p:sp>
        <p:nvSpPr>
          <p:cNvPr id="69" name="Google Shape;69;p11"/>
          <p:cNvSpPr txBox="1"/>
          <p:nvPr>
            <p:ph hasCustomPrompt="1" type="title"/>
          </p:nvPr>
        </p:nvSpPr>
        <p:spPr>
          <a:xfrm>
            <a:off x="1604400" y="1354558"/>
            <a:ext cx="5935200" cy="184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70" name="Google Shape;70;p11"/>
          <p:cNvSpPr txBox="1"/>
          <p:nvPr>
            <p:ph idx="1" type="subTitle"/>
          </p:nvPr>
        </p:nvSpPr>
        <p:spPr>
          <a:xfrm>
            <a:off x="1604400" y="3199142"/>
            <a:ext cx="5935200" cy="589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850"/>
              <a:buNone/>
              <a:defRPr sz="1550"/>
            </a:lvl1pPr>
            <a:lvl2pPr lvl="1" rtl="0" algn="ctr">
              <a:lnSpc>
                <a:spcPct val="115000"/>
              </a:lnSpc>
              <a:spcBef>
                <a:spcPts val="0"/>
              </a:spcBef>
              <a:spcAft>
                <a:spcPts val="0"/>
              </a:spcAft>
              <a:buSzPts val="1850"/>
              <a:buNone/>
              <a:defRPr sz="1850"/>
            </a:lvl2pPr>
            <a:lvl3pPr lvl="2" rtl="0" algn="ctr">
              <a:lnSpc>
                <a:spcPct val="115000"/>
              </a:lnSpc>
              <a:spcBef>
                <a:spcPts val="0"/>
              </a:spcBef>
              <a:spcAft>
                <a:spcPts val="0"/>
              </a:spcAft>
              <a:buSzPts val="1850"/>
              <a:buNone/>
              <a:defRPr sz="1850"/>
            </a:lvl3pPr>
            <a:lvl4pPr lvl="3" rtl="0" algn="ctr">
              <a:lnSpc>
                <a:spcPct val="115000"/>
              </a:lnSpc>
              <a:spcBef>
                <a:spcPts val="0"/>
              </a:spcBef>
              <a:spcAft>
                <a:spcPts val="0"/>
              </a:spcAft>
              <a:buSzPts val="1850"/>
              <a:buNone/>
              <a:defRPr sz="1850"/>
            </a:lvl4pPr>
            <a:lvl5pPr lvl="4" rtl="0" algn="ctr">
              <a:lnSpc>
                <a:spcPct val="115000"/>
              </a:lnSpc>
              <a:spcBef>
                <a:spcPts val="0"/>
              </a:spcBef>
              <a:spcAft>
                <a:spcPts val="0"/>
              </a:spcAft>
              <a:buSzPts val="1850"/>
              <a:buNone/>
              <a:defRPr sz="1850"/>
            </a:lvl5pPr>
            <a:lvl6pPr lvl="5" rtl="0" algn="ctr">
              <a:lnSpc>
                <a:spcPct val="115000"/>
              </a:lnSpc>
              <a:spcBef>
                <a:spcPts val="0"/>
              </a:spcBef>
              <a:spcAft>
                <a:spcPts val="0"/>
              </a:spcAft>
              <a:buSzPts val="1850"/>
              <a:buNone/>
              <a:defRPr sz="1850"/>
            </a:lvl6pPr>
            <a:lvl7pPr lvl="6" rtl="0" algn="ctr">
              <a:lnSpc>
                <a:spcPct val="115000"/>
              </a:lnSpc>
              <a:spcBef>
                <a:spcPts val="0"/>
              </a:spcBef>
              <a:spcAft>
                <a:spcPts val="0"/>
              </a:spcAft>
              <a:buSzPts val="1850"/>
              <a:buNone/>
              <a:defRPr sz="1850"/>
            </a:lvl7pPr>
            <a:lvl8pPr lvl="7" rtl="0" algn="ctr">
              <a:lnSpc>
                <a:spcPct val="115000"/>
              </a:lnSpc>
              <a:spcBef>
                <a:spcPts val="0"/>
              </a:spcBef>
              <a:spcAft>
                <a:spcPts val="0"/>
              </a:spcAft>
              <a:buSzPts val="1850"/>
              <a:buNone/>
              <a:defRPr sz="1850"/>
            </a:lvl8pPr>
            <a:lvl9pPr lvl="8" rtl="0" algn="ctr">
              <a:lnSpc>
                <a:spcPct val="115000"/>
              </a:lnSpc>
              <a:spcBef>
                <a:spcPts val="0"/>
              </a:spcBef>
              <a:spcAft>
                <a:spcPts val="0"/>
              </a:spcAft>
              <a:buSzPts val="1850"/>
              <a:buNone/>
              <a:defRPr sz="1850"/>
            </a:lvl9pPr>
          </a:lstStyle>
          <a:p/>
        </p:txBody>
      </p:sp>
      <p:sp>
        <p:nvSpPr>
          <p:cNvPr id="71" name="Google Shape;71;p11"/>
          <p:cNvSpPr/>
          <p:nvPr/>
        </p:nvSpPr>
        <p:spPr>
          <a:xfrm rot="10800000">
            <a:off x="-55375"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 name="Google Shape;72;p11"/>
          <p:cNvGrpSpPr/>
          <p:nvPr/>
        </p:nvGrpSpPr>
        <p:grpSpPr>
          <a:xfrm rot="10800000">
            <a:off x="-55325" y="0"/>
            <a:ext cx="9199325" cy="4604000"/>
            <a:chOff x="-55375" y="539500"/>
            <a:chExt cx="9199325" cy="4604000"/>
          </a:xfrm>
        </p:grpSpPr>
        <p:cxnSp>
          <p:nvCxnSpPr>
            <p:cNvPr id="73" name="Google Shape;73;p11"/>
            <p:cNvCxnSpPr/>
            <p:nvPr/>
          </p:nvCxnSpPr>
          <p:spPr>
            <a:xfrm>
              <a:off x="-55375" y="4608575"/>
              <a:ext cx="4563600" cy="0"/>
            </a:xfrm>
            <a:prstGeom prst="straightConnector1">
              <a:avLst/>
            </a:prstGeom>
            <a:noFill/>
            <a:ln cap="flat" cmpd="sng" w="9525">
              <a:solidFill>
                <a:schemeClr val="dk1"/>
              </a:solidFill>
              <a:prstDash val="solid"/>
              <a:round/>
              <a:headEnd len="med" w="med" type="none"/>
              <a:tailEnd len="med" w="med" type="none"/>
            </a:ln>
          </p:spPr>
        </p:cxnSp>
        <p:cxnSp>
          <p:nvCxnSpPr>
            <p:cNvPr id="74" name="Google Shape;74;p11"/>
            <p:cNvCxnSpPr/>
            <p:nvPr/>
          </p:nvCxnSpPr>
          <p:spPr>
            <a:xfrm>
              <a:off x="2576350" y="539500"/>
              <a:ext cx="6567600" cy="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11"/>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7" name="Shape 77"/>
        <p:cNvGrpSpPr/>
        <p:nvPr/>
      </p:nvGrpSpPr>
      <p:grpSpPr>
        <a:xfrm>
          <a:off x="0" y="0"/>
          <a:ext cx="0" cy="0"/>
          <a:chOff x="0" y="0"/>
          <a:chExt cx="0" cy="0"/>
        </a:xfrm>
      </p:grpSpPr>
      <p:sp>
        <p:nvSpPr>
          <p:cNvPr id="78" name="Google Shape;78;p13"/>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9" name="Google Shape;79;p13"/>
          <p:cNvSpPr txBox="1"/>
          <p:nvPr>
            <p:ph idx="1" type="subTitle"/>
          </p:nvPr>
        </p:nvSpPr>
        <p:spPr>
          <a:xfrm>
            <a:off x="1936100" y="2129352"/>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0" name="Google Shape;80;p13"/>
          <p:cNvSpPr txBox="1"/>
          <p:nvPr>
            <p:ph idx="2" type="subTitle"/>
          </p:nvPr>
        </p:nvSpPr>
        <p:spPr>
          <a:xfrm>
            <a:off x="1936100" y="1370275"/>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1" name="Google Shape;81;p13"/>
          <p:cNvSpPr txBox="1"/>
          <p:nvPr>
            <p:ph hasCustomPrompt="1" idx="3" type="title"/>
          </p:nvPr>
        </p:nvSpPr>
        <p:spPr>
          <a:xfrm>
            <a:off x="993600" y="1483400"/>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2" name="Google Shape;82;p13"/>
          <p:cNvSpPr txBox="1"/>
          <p:nvPr>
            <p:ph idx="4" type="subTitle"/>
          </p:nvPr>
        </p:nvSpPr>
        <p:spPr>
          <a:xfrm>
            <a:off x="1936100" y="3827175"/>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3" name="Google Shape;83;p13"/>
          <p:cNvSpPr txBox="1"/>
          <p:nvPr>
            <p:ph idx="5" type="subTitle"/>
          </p:nvPr>
        </p:nvSpPr>
        <p:spPr>
          <a:xfrm>
            <a:off x="1936100" y="3068200"/>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4" name="Google Shape;84;p13"/>
          <p:cNvSpPr txBox="1"/>
          <p:nvPr>
            <p:ph hasCustomPrompt="1" idx="6" type="title"/>
          </p:nvPr>
        </p:nvSpPr>
        <p:spPr>
          <a:xfrm>
            <a:off x="993600" y="3179712"/>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5" name="Google Shape;85;p13"/>
          <p:cNvSpPr txBox="1"/>
          <p:nvPr>
            <p:ph idx="7" type="subTitle"/>
          </p:nvPr>
        </p:nvSpPr>
        <p:spPr>
          <a:xfrm>
            <a:off x="5969570" y="2129352"/>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6" name="Google Shape;86;p13"/>
          <p:cNvSpPr txBox="1"/>
          <p:nvPr>
            <p:ph idx="8" type="subTitle"/>
          </p:nvPr>
        </p:nvSpPr>
        <p:spPr>
          <a:xfrm>
            <a:off x="5969570" y="1370275"/>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7" name="Google Shape;87;p13"/>
          <p:cNvSpPr txBox="1"/>
          <p:nvPr>
            <p:ph hasCustomPrompt="1" idx="9" type="title"/>
          </p:nvPr>
        </p:nvSpPr>
        <p:spPr>
          <a:xfrm>
            <a:off x="5033780" y="1483400"/>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8" name="Google Shape;88;p13"/>
          <p:cNvSpPr txBox="1"/>
          <p:nvPr>
            <p:ph idx="13" type="subTitle"/>
          </p:nvPr>
        </p:nvSpPr>
        <p:spPr>
          <a:xfrm>
            <a:off x="5969570" y="3827175"/>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9" name="Google Shape;89;p13"/>
          <p:cNvSpPr txBox="1"/>
          <p:nvPr>
            <p:ph idx="14" type="subTitle"/>
          </p:nvPr>
        </p:nvSpPr>
        <p:spPr>
          <a:xfrm>
            <a:off x="5969570" y="3068200"/>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90" name="Google Shape;90;p13"/>
          <p:cNvSpPr txBox="1"/>
          <p:nvPr>
            <p:ph hasCustomPrompt="1" idx="15" type="title"/>
          </p:nvPr>
        </p:nvSpPr>
        <p:spPr>
          <a:xfrm>
            <a:off x="5033780" y="3179712"/>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cxnSp>
        <p:nvCxnSpPr>
          <p:cNvPr id="91" name="Google Shape;91;p13"/>
          <p:cNvCxnSpPr/>
          <p:nvPr/>
        </p:nvCxnSpPr>
        <p:spPr>
          <a:xfrm rot="10800000">
            <a:off x="9002100" y="-100"/>
            <a:ext cx="0" cy="26526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92" name="Shape 92"/>
        <p:cNvGrpSpPr/>
        <p:nvPr/>
      </p:nvGrpSpPr>
      <p:grpSpPr>
        <a:xfrm>
          <a:off x="0" y="0"/>
          <a:ext cx="0" cy="0"/>
          <a:chOff x="0" y="0"/>
          <a:chExt cx="0" cy="0"/>
        </a:xfrm>
      </p:grpSpPr>
      <p:sp>
        <p:nvSpPr>
          <p:cNvPr id="93" name="Google Shape;93;p14"/>
          <p:cNvSpPr txBox="1"/>
          <p:nvPr>
            <p:ph type="title"/>
          </p:nvPr>
        </p:nvSpPr>
        <p:spPr>
          <a:xfrm>
            <a:off x="783150" y="3920175"/>
            <a:ext cx="7577700" cy="554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7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idx="1" type="subTitle"/>
          </p:nvPr>
        </p:nvSpPr>
        <p:spPr>
          <a:xfrm>
            <a:off x="783150" y="1722374"/>
            <a:ext cx="7577700" cy="2121000"/>
          </a:xfrm>
          <a:prstGeom prst="rect">
            <a:avLst/>
          </a:prstGeom>
        </p:spPr>
        <p:txBody>
          <a:bodyPr anchorCtr="0" anchor="b" bIns="91425" lIns="91425" spcFirstLastPara="1" rIns="91425" wrap="square" tIns="91425">
            <a:noAutofit/>
          </a:bodyPr>
          <a:lstStyle>
            <a:lvl1pPr lvl="0" rtl="0" algn="r">
              <a:lnSpc>
                <a:spcPct val="115000"/>
              </a:lnSpc>
              <a:spcBef>
                <a:spcPts val="0"/>
              </a:spcBef>
              <a:spcAft>
                <a:spcPts val="0"/>
              </a:spcAft>
              <a:buSzPts val="3500"/>
              <a:buNone/>
              <a:defRPr sz="3100"/>
            </a:lvl1pPr>
            <a:lvl2pPr lvl="1" rtl="0" algn="ctr">
              <a:lnSpc>
                <a:spcPct val="115000"/>
              </a:lnSpc>
              <a:spcBef>
                <a:spcPts val="0"/>
              </a:spcBef>
              <a:spcAft>
                <a:spcPts val="0"/>
              </a:spcAft>
              <a:buSzPts val="3500"/>
              <a:buNone/>
              <a:defRPr sz="3500"/>
            </a:lvl2pPr>
            <a:lvl3pPr lvl="2" rtl="0" algn="ctr">
              <a:lnSpc>
                <a:spcPct val="115000"/>
              </a:lnSpc>
              <a:spcBef>
                <a:spcPts val="0"/>
              </a:spcBef>
              <a:spcAft>
                <a:spcPts val="0"/>
              </a:spcAft>
              <a:buSzPts val="3500"/>
              <a:buNone/>
              <a:defRPr sz="3500"/>
            </a:lvl3pPr>
            <a:lvl4pPr lvl="3" rtl="0" algn="ctr">
              <a:lnSpc>
                <a:spcPct val="115000"/>
              </a:lnSpc>
              <a:spcBef>
                <a:spcPts val="0"/>
              </a:spcBef>
              <a:spcAft>
                <a:spcPts val="0"/>
              </a:spcAft>
              <a:buSzPts val="3500"/>
              <a:buNone/>
              <a:defRPr sz="3500"/>
            </a:lvl4pPr>
            <a:lvl5pPr lvl="4" rtl="0" algn="ctr">
              <a:lnSpc>
                <a:spcPct val="115000"/>
              </a:lnSpc>
              <a:spcBef>
                <a:spcPts val="0"/>
              </a:spcBef>
              <a:spcAft>
                <a:spcPts val="0"/>
              </a:spcAft>
              <a:buSzPts val="3500"/>
              <a:buNone/>
              <a:defRPr sz="3500"/>
            </a:lvl5pPr>
            <a:lvl6pPr lvl="5" rtl="0" algn="ctr">
              <a:lnSpc>
                <a:spcPct val="115000"/>
              </a:lnSpc>
              <a:spcBef>
                <a:spcPts val="0"/>
              </a:spcBef>
              <a:spcAft>
                <a:spcPts val="0"/>
              </a:spcAft>
              <a:buSzPts val="3500"/>
              <a:buNone/>
              <a:defRPr sz="3500"/>
            </a:lvl6pPr>
            <a:lvl7pPr lvl="6" rtl="0" algn="ctr">
              <a:lnSpc>
                <a:spcPct val="115000"/>
              </a:lnSpc>
              <a:spcBef>
                <a:spcPts val="0"/>
              </a:spcBef>
              <a:spcAft>
                <a:spcPts val="0"/>
              </a:spcAft>
              <a:buSzPts val="3500"/>
              <a:buNone/>
              <a:defRPr sz="3500"/>
            </a:lvl7pPr>
            <a:lvl8pPr lvl="7" rtl="0" algn="ctr">
              <a:lnSpc>
                <a:spcPct val="115000"/>
              </a:lnSpc>
              <a:spcBef>
                <a:spcPts val="0"/>
              </a:spcBef>
              <a:spcAft>
                <a:spcPts val="0"/>
              </a:spcAft>
              <a:buSzPts val="3500"/>
              <a:buNone/>
              <a:defRPr sz="3500"/>
            </a:lvl8pPr>
            <a:lvl9pPr lvl="8" rtl="0" algn="ctr">
              <a:lnSpc>
                <a:spcPct val="115000"/>
              </a:lnSpc>
              <a:spcBef>
                <a:spcPts val="0"/>
              </a:spcBef>
              <a:spcAft>
                <a:spcPts val="0"/>
              </a:spcAft>
              <a:buSzPts val="3500"/>
              <a:buNone/>
              <a:defRPr sz="3500"/>
            </a:lvl9pPr>
          </a:lstStyle>
          <a:p/>
        </p:txBody>
      </p:sp>
      <p:cxnSp>
        <p:nvCxnSpPr>
          <p:cNvPr id="95" name="Google Shape;95;p14"/>
          <p:cNvCxnSpPr/>
          <p:nvPr/>
        </p:nvCxnSpPr>
        <p:spPr>
          <a:xfrm rot="10800000">
            <a:off x="75" y="4876025"/>
            <a:ext cx="8257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_1">
    <p:spTree>
      <p:nvGrpSpPr>
        <p:cNvPr id="96" name="Shape 96"/>
        <p:cNvGrpSpPr/>
        <p:nvPr/>
      </p:nvGrpSpPr>
      <p:grpSpPr>
        <a:xfrm>
          <a:off x="0" y="0"/>
          <a:ext cx="0" cy="0"/>
          <a:chOff x="0" y="0"/>
          <a:chExt cx="0" cy="0"/>
        </a:xfrm>
      </p:grpSpPr>
      <p:sp>
        <p:nvSpPr>
          <p:cNvPr id="97" name="Google Shape;97;p15"/>
          <p:cNvSpPr txBox="1"/>
          <p:nvPr>
            <p:ph type="title"/>
          </p:nvPr>
        </p:nvSpPr>
        <p:spPr>
          <a:xfrm flipH="1">
            <a:off x="2052825" y="2036300"/>
            <a:ext cx="5579100" cy="1477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500"/>
              <a:buNone/>
              <a:defRPr sz="4200"/>
            </a:lvl1pPr>
            <a:lvl2pPr lvl="1" rtl="0" algn="r">
              <a:spcBef>
                <a:spcPts val="0"/>
              </a:spcBef>
              <a:spcAft>
                <a:spcPts val="0"/>
              </a:spcAft>
              <a:buSzPts val="4500"/>
              <a:buNone/>
              <a:defRPr sz="4500"/>
            </a:lvl2pPr>
            <a:lvl3pPr lvl="2" rtl="0" algn="r">
              <a:spcBef>
                <a:spcPts val="0"/>
              </a:spcBef>
              <a:spcAft>
                <a:spcPts val="0"/>
              </a:spcAft>
              <a:buSzPts val="4500"/>
              <a:buNone/>
              <a:defRPr sz="4500"/>
            </a:lvl3pPr>
            <a:lvl4pPr lvl="3" rtl="0" algn="r">
              <a:spcBef>
                <a:spcPts val="0"/>
              </a:spcBef>
              <a:spcAft>
                <a:spcPts val="0"/>
              </a:spcAft>
              <a:buSzPts val="4500"/>
              <a:buNone/>
              <a:defRPr sz="4500"/>
            </a:lvl4pPr>
            <a:lvl5pPr lvl="4" rtl="0" algn="r">
              <a:spcBef>
                <a:spcPts val="0"/>
              </a:spcBef>
              <a:spcAft>
                <a:spcPts val="0"/>
              </a:spcAft>
              <a:buSzPts val="4500"/>
              <a:buNone/>
              <a:defRPr sz="4500"/>
            </a:lvl5pPr>
            <a:lvl6pPr lvl="5" rtl="0" algn="r">
              <a:spcBef>
                <a:spcPts val="0"/>
              </a:spcBef>
              <a:spcAft>
                <a:spcPts val="0"/>
              </a:spcAft>
              <a:buSzPts val="4500"/>
              <a:buNone/>
              <a:defRPr sz="4500"/>
            </a:lvl6pPr>
            <a:lvl7pPr lvl="6" rtl="0" algn="r">
              <a:spcBef>
                <a:spcPts val="0"/>
              </a:spcBef>
              <a:spcAft>
                <a:spcPts val="0"/>
              </a:spcAft>
              <a:buSzPts val="4500"/>
              <a:buNone/>
              <a:defRPr sz="4500"/>
            </a:lvl7pPr>
            <a:lvl8pPr lvl="7" rtl="0" algn="r">
              <a:spcBef>
                <a:spcPts val="0"/>
              </a:spcBef>
              <a:spcAft>
                <a:spcPts val="0"/>
              </a:spcAft>
              <a:buSzPts val="4500"/>
              <a:buNone/>
              <a:defRPr sz="4500"/>
            </a:lvl8pPr>
            <a:lvl9pPr lvl="8" rtl="0" algn="r">
              <a:spcBef>
                <a:spcPts val="0"/>
              </a:spcBef>
              <a:spcAft>
                <a:spcPts val="0"/>
              </a:spcAft>
              <a:buSzPts val="4500"/>
              <a:buNone/>
              <a:defRPr sz="4500"/>
            </a:lvl9pPr>
          </a:lstStyle>
          <a:p/>
        </p:txBody>
      </p:sp>
      <p:sp>
        <p:nvSpPr>
          <p:cNvPr id="98" name="Google Shape;98;p15"/>
          <p:cNvSpPr txBox="1"/>
          <p:nvPr>
            <p:ph hasCustomPrompt="1" idx="2" type="title"/>
          </p:nvPr>
        </p:nvSpPr>
        <p:spPr>
          <a:xfrm flipH="1">
            <a:off x="6555825" y="1012500"/>
            <a:ext cx="1076100" cy="87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5300"/>
              <a:buNone/>
              <a:defRPr sz="4200"/>
            </a:lvl1pPr>
            <a:lvl2pPr lvl="1" rtl="0" algn="ctr">
              <a:spcBef>
                <a:spcPts val="0"/>
              </a:spcBef>
              <a:spcAft>
                <a:spcPts val="0"/>
              </a:spcAft>
              <a:buSzPts val="5300"/>
              <a:buNone/>
              <a:defRPr sz="5300"/>
            </a:lvl2pPr>
            <a:lvl3pPr lvl="2" rtl="0" algn="ctr">
              <a:spcBef>
                <a:spcPts val="0"/>
              </a:spcBef>
              <a:spcAft>
                <a:spcPts val="0"/>
              </a:spcAft>
              <a:buSzPts val="5300"/>
              <a:buNone/>
              <a:defRPr sz="5300"/>
            </a:lvl3pPr>
            <a:lvl4pPr lvl="3" rtl="0" algn="ctr">
              <a:spcBef>
                <a:spcPts val="0"/>
              </a:spcBef>
              <a:spcAft>
                <a:spcPts val="0"/>
              </a:spcAft>
              <a:buSzPts val="5300"/>
              <a:buNone/>
              <a:defRPr sz="5300"/>
            </a:lvl4pPr>
            <a:lvl5pPr lvl="4" rtl="0" algn="ctr">
              <a:spcBef>
                <a:spcPts val="0"/>
              </a:spcBef>
              <a:spcAft>
                <a:spcPts val="0"/>
              </a:spcAft>
              <a:buSzPts val="5300"/>
              <a:buNone/>
              <a:defRPr sz="5300"/>
            </a:lvl5pPr>
            <a:lvl6pPr lvl="5" rtl="0" algn="ctr">
              <a:spcBef>
                <a:spcPts val="0"/>
              </a:spcBef>
              <a:spcAft>
                <a:spcPts val="0"/>
              </a:spcAft>
              <a:buSzPts val="5300"/>
              <a:buNone/>
              <a:defRPr sz="5300"/>
            </a:lvl6pPr>
            <a:lvl7pPr lvl="6" rtl="0" algn="ctr">
              <a:spcBef>
                <a:spcPts val="0"/>
              </a:spcBef>
              <a:spcAft>
                <a:spcPts val="0"/>
              </a:spcAft>
              <a:buSzPts val="5300"/>
              <a:buNone/>
              <a:defRPr sz="5300"/>
            </a:lvl7pPr>
            <a:lvl8pPr lvl="7" rtl="0" algn="ctr">
              <a:spcBef>
                <a:spcPts val="0"/>
              </a:spcBef>
              <a:spcAft>
                <a:spcPts val="0"/>
              </a:spcAft>
              <a:buSzPts val="5300"/>
              <a:buNone/>
              <a:defRPr sz="5300"/>
            </a:lvl8pPr>
            <a:lvl9pPr lvl="8" rtl="0" algn="ctr">
              <a:spcBef>
                <a:spcPts val="0"/>
              </a:spcBef>
              <a:spcAft>
                <a:spcPts val="0"/>
              </a:spcAft>
              <a:buSzPts val="5300"/>
              <a:buNone/>
              <a:defRPr sz="5300"/>
            </a:lvl9pPr>
          </a:lstStyle>
          <a:p>
            <a:r>
              <a:t>xx%</a:t>
            </a:r>
          </a:p>
        </p:txBody>
      </p:sp>
      <p:sp>
        <p:nvSpPr>
          <p:cNvPr id="99" name="Google Shape;99;p15"/>
          <p:cNvSpPr txBox="1"/>
          <p:nvPr>
            <p:ph idx="1" type="subTitle"/>
          </p:nvPr>
        </p:nvSpPr>
        <p:spPr>
          <a:xfrm flipH="1">
            <a:off x="2052825" y="3573275"/>
            <a:ext cx="5579100" cy="6975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850"/>
              <a:buNone/>
              <a:defRPr sz="1550"/>
            </a:lvl1pPr>
            <a:lvl2pPr lvl="1" rtl="0" algn="r">
              <a:lnSpc>
                <a:spcPct val="115000"/>
              </a:lnSpc>
              <a:spcBef>
                <a:spcPts val="0"/>
              </a:spcBef>
              <a:spcAft>
                <a:spcPts val="0"/>
              </a:spcAft>
              <a:buSzPts val="1850"/>
              <a:buNone/>
              <a:defRPr sz="1850"/>
            </a:lvl2pPr>
            <a:lvl3pPr lvl="2" rtl="0" algn="r">
              <a:lnSpc>
                <a:spcPct val="115000"/>
              </a:lnSpc>
              <a:spcBef>
                <a:spcPts val="0"/>
              </a:spcBef>
              <a:spcAft>
                <a:spcPts val="0"/>
              </a:spcAft>
              <a:buSzPts val="1850"/>
              <a:buNone/>
              <a:defRPr sz="1850"/>
            </a:lvl3pPr>
            <a:lvl4pPr lvl="3" rtl="0" algn="r">
              <a:lnSpc>
                <a:spcPct val="115000"/>
              </a:lnSpc>
              <a:spcBef>
                <a:spcPts val="0"/>
              </a:spcBef>
              <a:spcAft>
                <a:spcPts val="0"/>
              </a:spcAft>
              <a:buSzPts val="1850"/>
              <a:buNone/>
              <a:defRPr sz="1850"/>
            </a:lvl4pPr>
            <a:lvl5pPr lvl="4" rtl="0" algn="r">
              <a:lnSpc>
                <a:spcPct val="115000"/>
              </a:lnSpc>
              <a:spcBef>
                <a:spcPts val="0"/>
              </a:spcBef>
              <a:spcAft>
                <a:spcPts val="0"/>
              </a:spcAft>
              <a:buSzPts val="1850"/>
              <a:buNone/>
              <a:defRPr sz="1850"/>
            </a:lvl5pPr>
            <a:lvl6pPr lvl="5" rtl="0" algn="r">
              <a:lnSpc>
                <a:spcPct val="115000"/>
              </a:lnSpc>
              <a:spcBef>
                <a:spcPts val="0"/>
              </a:spcBef>
              <a:spcAft>
                <a:spcPts val="0"/>
              </a:spcAft>
              <a:buSzPts val="1850"/>
              <a:buNone/>
              <a:defRPr sz="1850"/>
            </a:lvl6pPr>
            <a:lvl7pPr lvl="6" rtl="0" algn="r">
              <a:lnSpc>
                <a:spcPct val="115000"/>
              </a:lnSpc>
              <a:spcBef>
                <a:spcPts val="0"/>
              </a:spcBef>
              <a:spcAft>
                <a:spcPts val="0"/>
              </a:spcAft>
              <a:buSzPts val="1850"/>
              <a:buNone/>
              <a:defRPr sz="1850"/>
            </a:lvl7pPr>
            <a:lvl8pPr lvl="7" rtl="0" algn="r">
              <a:lnSpc>
                <a:spcPct val="115000"/>
              </a:lnSpc>
              <a:spcBef>
                <a:spcPts val="0"/>
              </a:spcBef>
              <a:spcAft>
                <a:spcPts val="0"/>
              </a:spcAft>
              <a:buSzPts val="1850"/>
              <a:buNone/>
              <a:defRPr sz="1850"/>
            </a:lvl8pPr>
            <a:lvl9pPr lvl="8" rtl="0" algn="r">
              <a:lnSpc>
                <a:spcPct val="115000"/>
              </a:lnSpc>
              <a:spcBef>
                <a:spcPts val="0"/>
              </a:spcBef>
              <a:spcAft>
                <a:spcPts val="0"/>
              </a:spcAft>
              <a:buSzPts val="1850"/>
              <a:buNone/>
              <a:defRPr sz="1850"/>
            </a:lvl9pPr>
          </a:lstStyle>
          <a:p/>
        </p:txBody>
      </p:sp>
      <p:sp>
        <p:nvSpPr>
          <p:cNvPr id="100" name="Google Shape;100;p15"/>
          <p:cNvSpPr/>
          <p:nvPr/>
        </p:nvSpPr>
        <p:spPr>
          <a:xfrm flipH="1">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 name="Google Shape;101;p15"/>
          <p:cNvCxnSpPr/>
          <p:nvPr/>
        </p:nvCxnSpPr>
        <p:spPr>
          <a:xfrm rot="10800000">
            <a:off x="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2">
    <p:spTree>
      <p:nvGrpSpPr>
        <p:cNvPr id="102" name="Shape 102"/>
        <p:cNvGrpSpPr/>
        <p:nvPr/>
      </p:nvGrpSpPr>
      <p:grpSpPr>
        <a:xfrm>
          <a:off x="0" y="0"/>
          <a:ext cx="0" cy="0"/>
          <a:chOff x="0" y="0"/>
          <a:chExt cx="0" cy="0"/>
        </a:xfrm>
      </p:grpSpPr>
      <p:sp>
        <p:nvSpPr>
          <p:cNvPr id="103" name="Google Shape;103;p1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4" name="Google Shape;104;p16"/>
          <p:cNvSpPr txBox="1"/>
          <p:nvPr>
            <p:ph idx="1" type="subTitle"/>
          </p:nvPr>
        </p:nvSpPr>
        <p:spPr>
          <a:xfrm>
            <a:off x="713225"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5" name="Google Shape;105;p16"/>
          <p:cNvSpPr txBox="1"/>
          <p:nvPr>
            <p:ph hasCustomPrompt="1" idx="2" type="title"/>
          </p:nvPr>
        </p:nvSpPr>
        <p:spPr>
          <a:xfrm>
            <a:off x="713225"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 name="Google Shape;106;p16"/>
          <p:cNvSpPr txBox="1"/>
          <p:nvPr>
            <p:ph idx="3" type="subTitle"/>
          </p:nvPr>
        </p:nvSpPr>
        <p:spPr>
          <a:xfrm>
            <a:off x="713225"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07" name="Google Shape;107;p16"/>
          <p:cNvSpPr txBox="1"/>
          <p:nvPr>
            <p:ph idx="4" type="subTitle"/>
          </p:nvPr>
        </p:nvSpPr>
        <p:spPr>
          <a:xfrm>
            <a:off x="6030475"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8" name="Google Shape;108;p16"/>
          <p:cNvSpPr txBox="1"/>
          <p:nvPr>
            <p:ph hasCustomPrompt="1" idx="5" type="title"/>
          </p:nvPr>
        </p:nvSpPr>
        <p:spPr>
          <a:xfrm>
            <a:off x="6030475"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9" name="Google Shape;109;p16"/>
          <p:cNvSpPr txBox="1"/>
          <p:nvPr>
            <p:ph idx="6" type="subTitle"/>
          </p:nvPr>
        </p:nvSpPr>
        <p:spPr>
          <a:xfrm>
            <a:off x="6030475"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10" name="Google Shape;110;p16"/>
          <p:cNvSpPr txBox="1"/>
          <p:nvPr>
            <p:ph idx="7" type="subTitle"/>
          </p:nvPr>
        </p:nvSpPr>
        <p:spPr>
          <a:xfrm>
            <a:off x="3371850"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1" name="Google Shape;111;p16"/>
          <p:cNvSpPr txBox="1"/>
          <p:nvPr>
            <p:ph hasCustomPrompt="1" idx="8" type="title"/>
          </p:nvPr>
        </p:nvSpPr>
        <p:spPr>
          <a:xfrm>
            <a:off x="3371850"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2" name="Google Shape;112;p16"/>
          <p:cNvSpPr txBox="1"/>
          <p:nvPr>
            <p:ph idx="9" type="subTitle"/>
          </p:nvPr>
        </p:nvSpPr>
        <p:spPr>
          <a:xfrm>
            <a:off x="3371850"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cxnSp>
        <p:nvCxnSpPr>
          <p:cNvPr id="113" name="Google Shape;113;p16"/>
          <p:cNvCxnSpPr/>
          <p:nvPr/>
        </p:nvCxnSpPr>
        <p:spPr>
          <a:xfrm rot="10800000">
            <a:off x="5035800" y="4797575"/>
            <a:ext cx="4108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_1_2">
    <p:spTree>
      <p:nvGrpSpPr>
        <p:cNvPr id="114" name="Shape 114"/>
        <p:cNvGrpSpPr/>
        <p:nvPr/>
      </p:nvGrpSpPr>
      <p:grpSpPr>
        <a:xfrm>
          <a:off x="0" y="0"/>
          <a:ext cx="0" cy="0"/>
          <a:chOff x="0" y="0"/>
          <a:chExt cx="0" cy="0"/>
        </a:xfrm>
      </p:grpSpPr>
      <p:sp>
        <p:nvSpPr>
          <p:cNvPr id="115" name="Google Shape;115;p17"/>
          <p:cNvSpPr txBox="1"/>
          <p:nvPr>
            <p:ph idx="1" type="subTitle"/>
          </p:nvPr>
        </p:nvSpPr>
        <p:spPr>
          <a:xfrm>
            <a:off x="2370900" y="1278125"/>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6" name="Google Shape;116;p17"/>
          <p:cNvSpPr txBox="1"/>
          <p:nvPr>
            <p:ph hasCustomPrompt="1" type="title"/>
          </p:nvPr>
        </p:nvSpPr>
        <p:spPr>
          <a:xfrm>
            <a:off x="2370900" y="572825"/>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17" name="Google Shape;117;p17"/>
          <p:cNvSpPr txBox="1"/>
          <p:nvPr>
            <p:ph idx="2" type="subTitle"/>
          </p:nvPr>
        </p:nvSpPr>
        <p:spPr>
          <a:xfrm>
            <a:off x="2370900" y="4087875"/>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8" name="Google Shape;118;p17"/>
          <p:cNvSpPr txBox="1"/>
          <p:nvPr>
            <p:ph hasCustomPrompt="1" idx="3" type="title"/>
          </p:nvPr>
        </p:nvSpPr>
        <p:spPr>
          <a:xfrm>
            <a:off x="2370900" y="3382575"/>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19" name="Google Shape;119;p17"/>
          <p:cNvSpPr txBox="1"/>
          <p:nvPr>
            <p:ph idx="4" type="subTitle"/>
          </p:nvPr>
        </p:nvSpPr>
        <p:spPr>
          <a:xfrm>
            <a:off x="2370900" y="2683000"/>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20" name="Google Shape;120;p17"/>
          <p:cNvSpPr txBox="1"/>
          <p:nvPr>
            <p:ph hasCustomPrompt="1" idx="5" type="title"/>
          </p:nvPr>
        </p:nvSpPr>
        <p:spPr>
          <a:xfrm>
            <a:off x="2370900" y="1977700"/>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grpSp>
        <p:nvGrpSpPr>
          <p:cNvPr id="121" name="Google Shape;121;p17"/>
          <p:cNvGrpSpPr/>
          <p:nvPr/>
        </p:nvGrpSpPr>
        <p:grpSpPr>
          <a:xfrm>
            <a:off x="711250" y="-125"/>
            <a:ext cx="7719525" cy="5143625"/>
            <a:chOff x="711250" y="-125"/>
            <a:chExt cx="7719525" cy="5143625"/>
          </a:xfrm>
        </p:grpSpPr>
        <p:cxnSp>
          <p:nvCxnSpPr>
            <p:cNvPr id="122" name="Google Shape;122;p17"/>
            <p:cNvCxnSpPr/>
            <p:nvPr/>
          </p:nvCxnSpPr>
          <p:spPr>
            <a:xfrm rot="10800000">
              <a:off x="711250" y="2191500"/>
              <a:ext cx="0" cy="2952000"/>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17"/>
            <p:cNvCxnSpPr/>
            <p:nvPr/>
          </p:nvCxnSpPr>
          <p:spPr>
            <a:xfrm rot="10800000">
              <a:off x="8430775" y="-125"/>
              <a:ext cx="0" cy="2191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_1_1">
    <p:spTree>
      <p:nvGrpSpPr>
        <p:cNvPr id="124" name="Shape 124"/>
        <p:cNvGrpSpPr/>
        <p:nvPr/>
      </p:nvGrpSpPr>
      <p:grpSpPr>
        <a:xfrm>
          <a:off x="0" y="0"/>
          <a:ext cx="0" cy="0"/>
          <a:chOff x="0" y="0"/>
          <a:chExt cx="0" cy="0"/>
        </a:xfrm>
      </p:grpSpPr>
      <p:sp>
        <p:nvSpPr>
          <p:cNvPr id="125" name="Google Shape;125;p1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grpSp>
        <p:nvGrpSpPr>
          <p:cNvPr id="126" name="Google Shape;126;p18"/>
          <p:cNvGrpSpPr/>
          <p:nvPr/>
        </p:nvGrpSpPr>
        <p:grpSpPr>
          <a:xfrm flipH="1">
            <a:off x="0" y="4876025"/>
            <a:ext cx="9144000" cy="267600"/>
            <a:chOff x="0" y="4876025"/>
            <a:chExt cx="9144000" cy="267600"/>
          </a:xfrm>
        </p:grpSpPr>
        <p:sp>
          <p:nvSpPr>
            <p:cNvPr id="127" name="Google Shape;127;p18"/>
            <p:cNvSpPr/>
            <p:nvPr/>
          </p:nvSpPr>
          <p:spPr>
            <a:xfrm>
              <a:off x="0" y="4876025"/>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 name="Google Shape;128;p18"/>
            <p:cNvCxnSpPr/>
            <p:nvPr/>
          </p:nvCxnSpPr>
          <p:spPr>
            <a:xfrm>
              <a:off x="4572000" y="5009825"/>
              <a:ext cx="4572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_1_2">
    <p:spTree>
      <p:nvGrpSpPr>
        <p:cNvPr id="129" name="Shape 129"/>
        <p:cNvGrpSpPr/>
        <p:nvPr/>
      </p:nvGrpSpPr>
      <p:grpSpPr>
        <a:xfrm>
          <a:off x="0" y="0"/>
          <a:ext cx="0" cy="0"/>
          <a:chOff x="0" y="0"/>
          <a:chExt cx="0" cy="0"/>
        </a:xfrm>
      </p:grpSpPr>
      <p:sp>
        <p:nvSpPr>
          <p:cNvPr id="130" name="Google Shape;130;p1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cxnSp>
        <p:nvCxnSpPr>
          <p:cNvPr id="131" name="Google Shape;131;p19"/>
          <p:cNvCxnSpPr/>
          <p:nvPr/>
        </p:nvCxnSpPr>
        <p:spPr>
          <a:xfrm>
            <a:off x="0" y="262400"/>
            <a:ext cx="2286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1_1">
    <p:spTree>
      <p:nvGrpSpPr>
        <p:cNvPr id="132" name="Shape 132"/>
        <p:cNvGrpSpPr/>
        <p:nvPr/>
      </p:nvGrpSpPr>
      <p:grpSpPr>
        <a:xfrm>
          <a:off x="0" y="0"/>
          <a:ext cx="0" cy="0"/>
          <a:chOff x="0" y="0"/>
          <a:chExt cx="0" cy="0"/>
        </a:xfrm>
      </p:grpSpPr>
      <p:grpSp>
        <p:nvGrpSpPr>
          <p:cNvPr id="133" name="Google Shape;133;p20"/>
          <p:cNvGrpSpPr/>
          <p:nvPr/>
        </p:nvGrpSpPr>
        <p:grpSpPr>
          <a:xfrm>
            <a:off x="0" y="0"/>
            <a:ext cx="9144075" cy="51435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4082225" y="544275"/>
            <a:ext cx="4224300" cy="1203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9200"/>
              <a:buNone/>
              <a:defRPr sz="4500"/>
            </a:lvl1pPr>
            <a:lvl2pPr lvl="1" rtl="0">
              <a:spcBef>
                <a:spcPts val="0"/>
              </a:spcBef>
              <a:spcAft>
                <a:spcPts val="0"/>
              </a:spcAft>
              <a:buSzPts val="9200"/>
              <a:buNone/>
              <a:defRPr sz="9200"/>
            </a:lvl2pPr>
            <a:lvl3pPr lvl="2" rtl="0">
              <a:spcBef>
                <a:spcPts val="0"/>
              </a:spcBef>
              <a:spcAft>
                <a:spcPts val="0"/>
              </a:spcAft>
              <a:buSzPts val="9200"/>
              <a:buNone/>
              <a:defRPr sz="9200"/>
            </a:lvl3pPr>
            <a:lvl4pPr lvl="3" rtl="0">
              <a:spcBef>
                <a:spcPts val="0"/>
              </a:spcBef>
              <a:spcAft>
                <a:spcPts val="0"/>
              </a:spcAft>
              <a:buSzPts val="9200"/>
              <a:buNone/>
              <a:defRPr sz="9200"/>
            </a:lvl4pPr>
            <a:lvl5pPr lvl="4" rtl="0">
              <a:spcBef>
                <a:spcPts val="0"/>
              </a:spcBef>
              <a:spcAft>
                <a:spcPts val="0"/>
              </a:spcAft>
              <a:buSzPts val="9200"/>
              <a:buNone/>
              <a:defRPr sz="9200"/>
            </a:lvl5pPr>
            <a:lvl6pPr lvl="5" rtl="0">
              <a:spcBef>
                <a:spcPts val="0"/>
              </a:spcBef>
              <a:spcAft>
                <a:spcPts val="0"/>
              </a:spcAft>
              <a:buSzPts val="9200"/>
              <a:buNone/>
              <a:defRPr sz="9200"/>
            </a:lvl6pPr>
            <a:lvl7pPr lvl="6" rtl="0">
              <a:spcBef>
                <a:spcPts val="0"/>
              </a:spcBef>
              <a:spcAft>
                <a:spcPts val="0"/>
              </a:spcAft>
              <a:buSzPts val="9200"/>
              <a:buNone/>
              <a:defRPr sz="9200"/>
            </a:lvl7pPr>
            <a:lvl8pPr lvl="7" rtl="0">
              <a:spcBef>
                <a:spcPts val="0"/>
              </a:spcBef>
              <a:spcAft>
                <a:spcPts val="0"/>
              </a:spcAft>
              <a:buSzPts val="9200"/>
              <a:buNone/>
              <a:defRPr sz="9200"/>
            </a:lvl8pPr>
            <a:lvl9pPr lvl="8" rtl="0">
              <a:spcBef>
                <a:spcPts val="0"/>
              </a:spcBef>
              <a:spcAft>
                <a:spcPts val="0"/>
              </a:spcAft>
              <a:buSzPts val="9200"/>
              <a:buNone/>
              <a:defRPr sz="9200"/>
            </a:lvl9pPr>
          </a:lstStyle>
          <a:p/>
        </p:txBody>
      </p:sp>
      <p:sp>
        <p:nvSpPr>
          <p:cNvPr id="137" name="Google Shape;137;p20"/>
          <p:cNvSpPr txBox="1"/>
          <p:nvPr>
            <p:ph idx="1" type="subTitle"/>
          </p:nvPr>
        </p:nvSpPr>
        <p:spPr>
          <a:xfrm>
            <a:off x="4082150" y="1747875"/>
            <a:ext cx="4224300" cy="25944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850"/>
              <a:buNone/>
              <a:defRPr sz="1550"/>
            </a:lvl1pPr>
            <a:lvl2pPr lvl="1" rtl="0" algn="ctr">
              <a:lnSpc>
                <a:spcPct val="115000"/>
              </a:lnSpc>
              <a:spcBef>
                <a:spcPts val="0"/>
              </a:spcBef>
              <a:spcAft>
                <a:spcPts val="0"/>
              </a:spcAft>
              <a:buSzPts val="1850"/>
              <a:buNone/>
              <a:defRPr sz="1850"/>
            </a:lvl2pPr>
            <a:lvl3pPr lvl="2" rtl="0" algn="ctr">
              <a:lnSpc>
                <a:spcPct val="115000"/>
              </a:lnSpc>
              <a:spcBef>
                <a:spcPts val="0"/>
              </a:spcBef>
              <a:spcAft>
                <a:spcPts val="0"/>
              </a:spcAft>
              <a:buSzPts val="1850"/>
              <a:buNone/>
              <a:defRPr sz="1850"/>
            </a:lvl3pPr>
            <a:lvl4pPr lvl="3" rtl="0" algn="ctr">
              <a:lnSpc>
                <a:spcPct val="115000"/>
              </a:lnSpc>
              <a:spcBef>
                <a:spcPts val="0"/>
              </a:spcBef>
              <a:spcAft>
                <a:spcPts val="0"/>
              </a:spcAft>
              <a:buSzPts val="1850"/>
              <a:buNone/>
              <a:defRPr sz="1850"/>
            </a:lvl4pPr>
            <a:lvl5pPr lvl="4" rtl="0" algn="ctr">
              <a:lnSpc>
                <a:spcPct val="115000"/>
              </a:lnSpc>
              <a:spcBef>
                <a:spcPts val="0"/>
              </a:spcBef>
              <a:spcAft>
                <a:spcPts val="0"/>
              </a:spcAft>
              <a:buSzPts val="1850"/>
              <a:buNone/>
              <a:defRPr sz="1850"/>
            </a:lvl5pPr>
            <a:lvl6pPr lvl="5" rtl="0" algn="ctr">
              <a:lnSpc>
                <a:spcPct val="115000"/>
              </a:lnSpc>
              <a:spcBef>
                <a:spcPts val="0"/>
              </a:spcBef>
              <a:spcAft>
                <a:spcPts val="0"/>
              </a:spcAft>
              <a:buSzPts val="1850"/>
              <a:buNone/>
              <a:defRPr sz="1850"/>
            </a:lvl6pPr>
            <a:lvl7pPr lvl="6" rtl="0" algn="ctr">
              <a:lnSpc>
                <a:spcPct val="115000"/>
              </a:lnSpc>
              <a:spcBef>
                <a:spcPts val="0"/>
              </a:spcBef>
              <a:spcAft>
                <a:spcPts val="0"/>
              </a:spcAft>
              <a:buSzPts val="1850"/>
              <a:buNone/>
              <a:defRPr sz="1850"/>
            </a:lvl7pPr>
            <a:lvl8pPr lvl="7" rtl="0" algn="ctr">
              <a:lnSpc>
                <a:spcPct val="115000"/>
              </a:lnSpc>
              <a:spcBef>
                <a:spcPts val="0"/>
              </a:spcBef>
              <a:spcAft>
                <a:spcPts val="0"/>
              </a:spcAft>
              <a:buSzPts val="1850"/>
              <a:buNone/>
              <a:defRPr sz="1850"/>
            </a:lvl8pPr>
            <a:lvl9pPr lvl="8" rtl="0" algn="ctr">
              <a:lnSpc>
                <a:spcPct val="115000"/>
              </a:lnSpc>
              <a:spcBef>
                <a:spcPts val="0"/>
              </a:spcBef>
              <a:spcAft>
                <a:spcPts val="0"/>
              </a:spcAft>
              <a:buSzPts val="1850"/>
              <a:buNone/>
              <a:defRPr sz="1850"/>
            </a:lvl9pPr>
          </a:lstStyle>
          <a:p/>
        </p:txBody>
      </p:sp>
      <p:grpSp>
        <p:nvGrpSpPr>
          <p:cNvPr id="138" name="Google Shape;138;p20"/>
          <p:cNvGrpSpPr/>
          <p:nvPr/>
        </p:nvGrpSpPr>
        <p:grpSpPr>
          <a:xfrm>
            <a:off x="150" y="539500"/>
            <a:ext cx="8430625" cy="4604000"/>
            <a:chOff x="150" y="539500"/>
            <a:chExt cx="8430625" cy="4604000"/>
          </a:xfrm>
        </p:grpSpPr>
        <p:cxnSp>
          <p:nvCxnSpPr>
            <p:cNvPr id="139" name="Google Shape;139;p20"/>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20"/>
            <p:cNvCxnSpPr/>
            <p:nvPr/>
          </p:nvCxnSpPr>
          <p:spPr>
            <a:xfrm rot="10800000">
              <a:off x="150" y="539500"/>
              <a:ext cx="4336800" cy="0"/>
            </a:xfrm>
            <a:prstGeom prst="straightConnector1">
              <a:avLst/>
            </a:prstGeom>
            <a:noFill/>
            <a:ln cap="flat" cmpd="sng" w="9525">
              <a:solidFill>
                <a:schemeClr val="dk1"/>
              </a:solidFill>
              <a:prstDash val="solid"/>
              <a:round/>
              <a:headEnd len="med" w="med" type="none"/>
              <a:tailEnd len="med" w="med" type="none"/>
            </a:ln>
          </p:spPr>
        </p:cxnSp>
      </p:grpSp>
      <p:sp>
        <p:nvSpPr>
          <p:cNvPr id="141" name="Google Shape;141;p20"/>
          <p:cNvSpPr/>
          <p:nvPr>
            <p:ph idx="2" type="pic"/>
          </p:nvPr>
        </p:nvSpPr>
        <p:spPr>
          <a:xfrm>
            <a:off x="592075" y="544275"/>
            <a:ext cx="3312000" cy="38841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
    <p:spTree>
      <p:nvGrpSpPr>
        <p:cNvPr id="142" name="Shape 142"/>
        <p:cNvGrpSpPr/>
        <p:nvPr/>
      </p:nvGrpSpPr>
      <p:grpSpPr>
        <a:xfrm>
          <a:off x="0" y="0"/>
          <a:ext cx="0" cy="0"/>
          <a:chOff x="0" y="0"/>
          <a:chExt cx="0" cy="0"/>
        </a:xfrm>
      </p:grpSpPr>
      <p:sp>
        <p:nvSpPr>
          <p:cNvPr id="143" name="Google Shape;143;p21"/>
          <p:cNvSpPr txBox="1"/>
          <p:nvPr>
            <p:ph idx="1" type="body"/>
          </p:nvPr>
        </p:nvSpPr>
        <p:spPr>
          <a:xfrm>
            <a:off x="1691100" y="1759300"/>
            <a:ext cx="5761800" cy="2092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Font typeface="Red Hat Display"/>
              <a:buChar char="■"/>
              <a:defRPr/>
            </a:lvl1pPr>
            <a:lvl2pPr indent="-317500" lvl="1" marL="914400" rtl="0">
              <a:spcBef>
                <a:spcPts val="1600"/>
              </a:spcBef>
              <a:spcAft>
                <a:spcPts val="0"/>
              </a:spcAft>
              <a:buClr>
                <a:srgbClr val="FFFFFF"/>
              </a:buClr>
              <a:buSzPts val="1400"/>
              <a:buFont typeface="Red Hat Display"/>
              <a:buChar char="○"/>
              <a:defRPr/>
            </a:lvl2pPr>
            <a:lvl3pPr indent="-317500" lvl="2" marL="1371600" rtl="0">
              <a:spcBef>
                <a:spcPts val="1600"/>
              </a:spcBef>
              <a:spcAft>
                <a:spcPts val="0"/>
              </a:spcAft>
              <a:buClr>
                <a:srgbClr val="FFFFFF"/>
              </a:buClr>
              <a:buSzPts val="1400"/>
              <a:buFont typeface="Red Hat Display"/>
              <a:buChar char="■"/>
              <a:defRPr/>
            </a:lvl3pPr>
            <a:lvl4pPr indent="-317500" lvl="3" marL="1828800" rtl="0">
              <a:spcBef>
                <a:spcPts val="1600"/>
              </a:spcBef>
              <a:spcAft>
                <a:spcPts val="0"/>
              </a:spcAft>
              <a:buClr>
                <a:srgbClr val="FFFFFF"/>
              </a:buClr>
              <a:buSzPts val="1400"/>
              <a:buFont typeface="Red Hat Display"/>
              <a:buChar char="●"/>
              <a:defRPr/>
            </a:lvl4pPr>
            <a:lvl5pPr indent="-317500" lvl="4" marL="2286000" rtl="0">
              <a:spcBef>
                <a:spcPts val="1600"/>
              </a:spcBef>
              <a:spcAft>
                <a:spcPts val="0"/>
              </a:spcAft>
              <a:buClr>
                <a:srgbClr val="FFFFFF"/>
              </a:buClr>
              <a:buSzPts val="1400"/>
              <a:buFont typeface="Red Hat Display"/>
              <a:buChar char="○"/>
              <a:defRPr/>
            </a:lvl5pPr>
            <a:lvl6pPr indent="-317500" lvl="5" marL="2743200" rtl="0">
              <a:spcBef>
                <a:spcPts val="1600"/>
              </a:spcBef>
              <a:spcAft>
                <a:spcPts val="0"/>
              </a:spcAft>
              <a:buClr>
                <a:srgbClr val="FFFFFF"/>
              </a:buClr>
              <a:buSzPts val="1400"/>
              <a:buFont typeface="Red Hat Display"/>
              <a:buChar char="■"/>
              <a:defRPr/>
            </a:lvl6pPr>
            <a:lvl7pPr indent="-317500" lvl="6" marL="3200400" rtl="0">
              <a:spcBef>
                <a:spcPts val="1600"/>
              </a:spcBef>
              <a:spcAft>
                <a:spcPts val="0"/>
              </a:spcAft>
              <a:buClr>
                <a:srgbClr val="FFFFFF"/>
              </a:buClr>
              <a:buSzPts val="1400"/>
              <a:buFont typeface="Red Hat Display"/>
              <a:buChar char="●"/>
              <a:defRPr/>
            </a:lvl7pPr>
            <a:lvl8pPr indent="-317500" lvl="7" marL="3657600" rtl="0">
              <a:spcBef>
                <a:spcPts val="1600"/>
              </a:spcBef>
              <a:spcAft>
                <a:spcPts val="0"/>
              </a:spcAft>
              <a:buClr>
                <a:srgbClr val="FFFFFF"/>
              </a:buClr>
              <a:buSzPts val="1400"/>
              <a:buFont typeface="Red Hat Display"/>
              <a:buChar char="○"/>
              <a:defRPr/>
            </a:lvl8pPr>
            <a:lvl9pPr indent="-317500" lvl="8" marL="4114800" rtl="0">
              <a:spcBef>
                <a:spcPts val="1600"/>
              </a:spcBef>
              <a:spcAft>
                <a:spcPts val="1600"/>
              </a:spcAft>
              <a:buClr>
                <a:srgbClr val="FFFFFF"/>
              </a:buClr>
              <a:buSzPts val="1400"/>
              <a:buFont typeface="Red Hat Display"/>
              <a:buChar char="■"/>
              <a:defRPr/>
            </a:lvl9pPr>
          </a:lstStyle>
          <a:p/>
        </p:txBody>
      </p:sp>
      <p:sp>
        <p:nvSpPr>
          <p:cNvPr id="144" name="Google Shape;144;p2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45" name="Google Shape;145;p21"/>
          <p:cNvSpPr/>
          <p:nvPr/>
        </p:nvSpPr>
        <p:spPr>
          <a:xfrm flipH="1">
            <a:off x="0" y="4875900"/>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21"/>
          <p:cNvGrpSpPr/>
          <p:nvPr/>
        </p:nvGrpSpPr>
        <p:grpSpPr>
          <a:xfrm>
            <a:off x="276825" y="267475"/>
            <a:ext cx="8860200" cy="4876025"/>
            <a:chOff x="276825" y="267475"/>
            <a:chExt cx="8860200" cy="4876025"/>
          </a:xfrm>
        </p:grpSpPr>
        <p:cxnSp>
          <p:nvCxnSpPr>
            <p:cNvPr id="147" name="Google Shape;147;p21"/>
            <p:cNvCxnSpPr/>
            <p:nvPr/>
          </p:nvCxnSpPr>
          <p:spPr>
            <a:xfrm rot="10800000">
              <a:off x="276825" y="2571900"/>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148" name="Google Shape;148;p21"/>
            <p:cNvCxnSpPr/>
            <p:nvPr/>
          </p:nvCxnSpPr>
          <p:spPr>
            <a:xfrm>
              <a:off x="4565025" y="267475"/>
              <a:ext cx="4572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_1_1_1">
    <p:spTree>
      <p:nvGrpSpPr>
        <p:cNvPr id="149" name="Shape 149"/>
        <p:cNvGrpSpPr/>
        <p:nvPr/>
      </p:nvGrpSpPr>
      <p:grpSpPr>
        <a:xfrm>
          <a:off x="0" y="0"/>
          <a:ext cx="0" cy="0"/>
          <a:chOff x="0" y="0"/>
          <a:chExt cx="0" cy="0"/>
        </a:xfrm>
      </p:grpSpPr>
      <p:sp>
        <p:nvSpPr>
          <p:cNvPr id="150" name="Google Shape;150;p22"/>
          <p:cNvSpPr txBox="1"/>
          <p:nvPr>
            <p:ph type="title"/>
          </p:nvPr>
        </p:nvSpPr>
        <p:spPr>
          <a:xfrm>
            <a:off x="948325" y="1185562"/>
            <a:ext cx="4863300" cy="803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51" name="Google Shape;151;p22"/>
          <p:cNvSpPr txBox="1"/>
          <p:nvPr>
            <p:ph idx="1" type="subTitle"/>
          </p:nvPr>
        </p:nvSpPr>
        <p:spPr>
          <a:xfrm>
            <a:off x="948325" y="2112038"/>
            <a:ext cx="4863300" cy="1845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Clr>
                <a:schemeClr val="dk2"/>
              </a:buClr>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
        <p:nvSpPr>
          <p:cNvPr id="152" name="Google Shape;152;p22"/>
          <p:cNvSpPr/>
          <p:nvPr/>
        </p:nvSpPr>
        <p:spPr>
          <a:xfrm flipH="1" rot="10800000">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2"/>
          <p:cNvGrpSpPr/>
          <p:nvPr/>
        </p:nvGrpSpPr>
        <p:grpSpPr>
          <a:xfrm flipH="1" rot="10800000">
            <a:off x="-55375" y="0"/>
            <a:ext cx="9199250" cy="4604000"/>
            <a:chOff x="-55375" y="539500"/>
            <a:chExt cx="9199250" cy="4604000"/>
          </a:xfrm>
        </p:grpSpPr>
        <p:cxnSp>
          <p:nvCxnSpPr>
            <p:cNvPr id="154" name="Google Shape;154;p22"/>
            <p:cNvCxnSpPr/>
            <p:nvPr/>
          </p:nvCxnSpPr>
          <p:spPr>
            <a:xfrm>
              <a:off x="-55375" y="4608575"/>
              <a:ext cx="4571700" cy="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22"/>
            <p:cNvCxnSpPr/>
            <p:nvPr/>
          </p:nvCxnSpPr>
          <p:spPr>
            <a:xfrm>
              <a:off x="4585075" y="539500"/>
              <a:ext cx="4558800" cy="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22"/>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_1_1_1">
    <p:spTree>
      <p:nvGrpSpPr>
        <p:cNvPr id="157" name="Shape 157"/>
        <p:cNvGrpSpPr/>
        <p:nvPr/>
      </p:nvGrpSpPr>
      <p:grpSpPr>
        <a:xfrm>
          <a:off x="0" y="0"/>
          <a:ext cx="0" cy="0"/>
          <a:chOff x="0" y="0"/>
          <a:chExt cx="0" cy="0"/>
        </a:xfrm>
      </p:grpSpPr>
      <p:sp>
        <p:nvSpPr>
          <p:cNvPr id="158" name="Google Shape;158;p23"/>
          <p:cNvSpPr txBox="1"/>
          <p:nvPr>
            <p:ph type="title"/>
          </p:nvPr>
        </p:nvSpPr>
        <p:spPr>
          <a:xfrm>
            <a:off x="1262175" y="1023602"/>
            <a:ext cx="2890500" cy="1678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59" name="Google Shape;159;p23"/>
          <p:cNvSpPr txBox="1"/>
          <p:nvPr>
            <p:ph idx="1" type="subTitle"/>
          </p:nvPr>
        </p:nvSpPr>
        <p:spPr>
          <a:xfrm>
            <a:off x="1262175" y="2702272"/>
            <a:ext cx="2890500" cy="1417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60" name="Google Shape;160;p23"/>
          <p:cNvSpPr/>
          <p:nvPr/>
        </p:nvSpPr>
        <p:spPr>
          <a:xfrm rot="10800000">
            <a:off x="125" y="0"/>
            <a:ext cx="716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 name="Google Shape;161;p23"/>
          <p:cNvGrpSpPr/>
          <p:nvPr/>
        </p:nvGrpSpPr>
        <p:grpSpPr>
          <a:xfrm rot="10800000">
            <a:off x="0" y="363100"/>
            <a:ext cx="8860200" cy="4780400"/>
            <a:chOff x="283800" y="0"/>
            <a:chExt cx="8860200" cy="4780400"/>
          </a:xfrm>
        </p:grpSpPr>
        <p:cxnSp>
          <p:nvCxnSpPr>
            <p:cNvPr id="162" name="Google Shape;162;p23"/>
            <p:cNvCxnSpPr/>
            <p:nvPr/>
          </p:nvCxnSpPr>
          <p:spPr>
            <a:xfrm>
              <a:off x="4273200" y="4780400"/>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163" name="Google Shape;163;p23"/>
            <p:cNvCxnSpPr/>
            <p:nvPr/>
          </p:nvCxnSpPr>
          <p:spPr>
            <a:xfrm rot="10800000">
              <a:off x="283800" y="0"/>
              <a:ext cx="0" cy="4131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_1_1_1_1_1_1">
    <p:spTree>
      <p:nvGrpSpPr>
        <p:cNvPr id="164" name="Shape 164"/>
        <p:cNvGrpSpPr/>
        <p:nvPr/>
      </p:nvGrpSpPr>
      <p:grpSpPr>
        <a:xfrm>
          <a:off x="0" y="0"/>
          <a:ext cx="0" cy="0"/>
          <a:chOff x="0" y="0"/>
          <a:chExt cx="0" cy="0"/>
        </a:xfrm>
      </p:grpSpPr>
      <p:sp>
        <p:nvSpPr>
          <p:cNvPr id="165" name="Google Shape;165;p24"/>
          <p:cNvSpPr txBox="1"/>
          <p:nvPr>
            <p:ph type="title"/>
          </p:nvPr>
        </p:nvSpPr>
        <p:spPr>
          <a:xfrm>
            <a:off x="4746800" y="1023600"/>
            <a:ext cx="2630100" cy="1521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100"/>
              <a:buNone/>
              <a:defRPr/>
            </a:lvl1pPr>
            <a:lvl2pPr lvl="1" rtl="0" algn="r">
              <a:spcBef>
                <a:spcPts val="0"/>
              </a:spcBef>
              <a:spcAft>
                <a:spcPts val="0"/>
              </a:spcAft>
              <a:buSzPts val="3100"/>
              <a:buNone/>
              <a:defRPr/>
            </a:lvl2pPr>
            <a:lvl3pPr lvl="2" rtl="0" algn="r">
              <a:spcBef>
                <a:spcPts val="0"/>
              </a:spcBef>
              <a:spcAft>
                <a:spcPts val="0"/>
              </a:spcAft>
              <a:buSzPts val="3100"/>
              <a:buNone/>
              <a:defRPr/>
            </a:lvl3pPr>
            <a:lvl4pPr lvl="3" rtl="0" algn="r">
              <a:spcBef>
                <a:spcPts val="0"/>
              </a:spcBef>
              <a:spcAft>
                <a:spcPts val="0"/>
              </a:spcAft>
              <a:buSzPts val="3100"/>
              <a:buNone/>
              <a:defRPr/>
            </a:lvl4pPr>
            <a:lvl5pPr lvl="4" rtl="0" algn="r">
              <a:spcBef>
                <a:spcPts val="0"/>
              </a:spcBef>
              <a:spcAft>
                <a:spcPts val="0"/>
              </a:spcAft>
              <a:buSzPts val="3100"/>
              <a:buNone/>
              <a:defRPr/>
            </a:lvl5pPr>
            <a:lvl6pPr lvl="5" rtl="0" algn="r">
              <a:spcBef>
                <a:spcPts val="0"/>
              </a:spcBef>
              <a:spcAft>
                <a:spcPts val="0"/>
              </a:spcAft>
              <a:buSzPts val="3100"/>
              <a:buNone/>
              <a:defRPr/>
            </a:lvl6pPr>
            <a:lvl7pPr lvl="6" rtl="0" algn="r">
              <a:spcBef>
                <a:spcPts val="0"/>
              </a:spcBef>
              <a:spcAft>
                <a:spcPts val="0"/>
              </a:spcAft>
              <a:buSzPts val="3100"/>
              <a:buNone/>
              <a:defRPr/>
            </a:lvl7pPr>
            <a:lvl8pPr lvl="7" rtl="0" algn="r">
              <a:spcBef>
                <a:spcPts val="0"/>
              </a:spcBef>
              <a:spcAft>
                <a:spcPts val="0"/>
              </a:spcAft>
              <a:buSzPts val="3100"/>
              <a:buNone/>
              <a:defRPr/>
            </a:lvl8pPr>
            <a:lvl9pPr lvl="8" rtl="0" algn="r">
              <a:spcBef>
                <a:spcPts val="0"/>
              </a:spcBef>
              <a:spcAft>
                <a:spcPts val="0"/>
              </a:spcAft>
              <a:buSzPts val="3100"/>
              <a:buNone/>
              <a:defRPr/>
            </a:lvl9pPr>
          </a:lstStyle>
          <a:p/>
        </p:txBody>
      </p:sp>
      <p:sp>
        <p:nvSpPr>
          <p:cNvPr id="166" name="Google Shape;166;p24"/>
          <p:cNvSpPr txBox="1"/>
          <p:nvPr>
            <p:ph idx="1" type="subTitle"/>
          </p:nvPr>
        </p:nvSpPr>
        <p:spPr>
          <a:xfrm>
            <a:off x="4746800" y="2545055"/>
            <a:ext cx="2630100" cy="15750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400"/>
              <a:buNone/>
              <a:defRPr/>
            </a:lvl1pPr>
            <a:lvl2pPr lvl="1" rtl="0" algn="r">
              <a:lnSpc>
                <a:spcPct val="115000"/>
              </a:lnSpc>
              <a:spcBef>
                <a:spcPts val="0"/>
              </a:spcBef>
              <a:spcAft>
                <a:spcPts val="0"/>
              </a:spcAft>
              <a:buSzPts val="1400"/>
              <a:buNone/>
              <a:defRPr/>
            </a:lvl2pPr>
            <a:lvl3pPr lvl="2" rtl="0" algn="r">
              <a:lnSpc>
                <a:spcPct val="115000"/>
              </a:lnSpc>
              <a:spcBef>
                <a:spcPts val="0"/>
              </a:spcBef>
              <a:spcAft>
                <a:spcPts val="0"/>
              </a:spcAft>
              <a:buSzPts val="1400"/>
              <a:buNone/>
              <a:defRPr/>
            </a:lvl3pPr>
            <a:lvl4pPr lvl="3" rtl="0" algn="r">
              <a:lnSpc>
                <a:spcPct val="115000"/>
              </a:lnSpc>
              <a:spcBef>
                <a:spcPts val="0"/>
              </a:spcBef>
              <a:spcAft>
                <a:spcPts val="0"/>
              </a:spcAft>
              <a:buSzPts val="1400"/>
              <a:buNone/>
              <a:defRPr/>
            </a:lvl4pPr>
            <a:lvl5pPr lvl="4" rtl="0" algn="r">
              <a:lnSpc>
                <a:spcPct val="115000"/>
              </a:lnSpc>
              <a:spcBef>
                <a:spcPts val="0"/>
              </a:spcBef>
              <a:spcAft>
                <a:spcPts val="0"/>
              </a:spcAft>
              <a:buSzPts val="1400"/>
              <a:buNone/>
              <a:defRPr/>
            </a:lvl5pPr>
            <a:lvl6pPr lvl="5" rtl="0" algn="r">
              <a:lnSpc>
                <a:spcPct val="115000"/>
              </a:lnSpc>
              <a:spcBef>
                <a:spcPts val="0"/>
              </a:spcBef>
              <a:spcAft>
                <a:spcPts val="0"/>
              </a:spcAft>
              <a:buSzPts val="1400"/>
              <a:buNone/>
              <a:defRPr/>
            </a:lvl6pPr>
            <a:lvl7pPr lvl="6" rtl="0" algn="r">
              <a:lnSpc>
                <a:spcPct val="115000"/>
              </a:lnSpc>
              <a:spcBef>
                <a:spcPts val="0"/>
              </a:spcBef>
              <a:spcAft>
                <a:spcPts val="0"/>
              </a:spcAft>
              <a:buSzPts val="1400"/>
              <a:buNone/>
              <a:defRPr/>
            </a:lvl7pPr>
            <a:lvl8pPr lvl="7" rtl="0" algn="r">
              <a:lnSpc>
                <a:spcPct val="115000"/>
              </a:lnSpc>
              <a:spcBef>
                <a:spcPts val="0"/>
              </a:spcBef>
              <a:spcAft>
                <a:spcPts val="0"/>
              </a:spcAft>
              <a:buSzPts val="1400"/>
              <a:buNone/>
              <a:defRPr/>
            </a:lvl8pPr>
            <a:lvl9pPr lvl="8" rtl="0" algn="r">
              <a:lnSpc>
                <a:spcPct val="115000"/>
              </a:lnSpc>
              <a:spcBef>
                <a:spcPts val="0"/>
              </a:spcBef>
              <a:spcAft>
                <a:spcPts val="0"/>
              </a:spcAft>
              <a:buSzPts val="1400"/>
              <a:buNone/>
              <a:defRPr/>
            </a:lvl9pPr>
          </a:lstStyle>
          <a:p/>
        </p:txBody>
      </p:sp>
      <p:grpSp>
        <p:nvGrpSpPr>
          <p:cNvPr id="167" name="Google Shape;167;p24"/>
          <p:cNvGrpSpPr/>
          <p:nvPr/>
        </p:nvGrpSpPr>
        <p:grpSpPr>
          <a:xfrm flipH="1">
            <a:off x="0" y="0"/>
            <a:ext cx="9144075" cy="5143500"/>
            <a:chOff x="0" y="0"/>
            <a:chExt cx="9144075" cy="5143500"/>
          </a:xfrm>
        </p:grpSpPr>
        <p:grpSp>
          <p:nvGrpSpPr>
            <p:cNvPr id="168" name="Google Shape;168;p24"/>
            <p:cNvGrpSpPr/>
            <p:nvPr/>
          </p:nvGrpSpPr>
          <p:grpSpPr>
            <a:xfrm>
              <a:off x="0" y="0"/>
              <a:ext cx="9144075" cy="5143500"/>
              <a:chOff x="0" y="0"/>
              <a:chExt cx="9144075" cy="5143500"/>
            </a:xfrm>
          </p:grpSpPr>
          <p:sp>
            <p:nvSpPr>
              <p:cNvPr id="169" name="Google Shape;169;p24"/>
              <p:cNvSpPr/>
              <p:nvPr/>
            </p:nvSpPr>
            <p:spPr>
              <a:xfrm>
                <a:off x="4185975" y="4608575"/>
                <a:ext cx="4958100" cy="529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4"/>
              <p:cNvSpPr/>
              <p:nvPr/>
            </p:nvSpPr>
            <p:spPr>
              <a:xfrm>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24"/>
            <p:cNvGrpSpPr/>
            <p:nvPr/>
          </p:nvGrpSpPr>
          <p:grpSpPr>
            <a:xfrm>
              <a:off x="150" y="539500"/>
              <a:ext cx="8430625" cy="4604000"/>
              <a:chOff x="150" y="539500"/>
              <a:chExt cx="8430625" cy="4604000"/>
            </a:xfrm>
          </p:grpSpPr>
          <p:cxnSp>
            <p:nvCxnSpPr>
              <p:cNvPr id="172" name="Google Shape;172;p24"/>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cxnSp>
            <p:nvCxnSpPr>
              <p:cNvPr id="173" name="Google Shape;173;p24"/>
              <p:cNvCxnSpPr/>
              <p:nvPr/>
            </p:nvCxnSpPr>
            <p:spPr>
              <a:xfrm rot="10800000">
                <a:off x="150" y="539500"/>
                <a:ext cx="4336800"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74" name="Shape 174"/>
        <p:cNvGrpSpPr/>
        <p:nvPr/>
      </p:nvGrpSpPr>
      <p:grpSpPr>
        <a:xfrm>
          <a:off x="0" y="0"/>
          <a:ext cx="0" cy="0"/>
          <a:chOff x="0" y="0"/>
          <a:chExt cx="0" cy="0"/>
        </a:xfrm>
      </p:grpSpPr>
      <p:sp>
        <p:nvSpPr>
          <p:cNvPr id="175" name="Google Shape;175;p2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76" name="Google Shape;176;p25"/>
          <p:cNvSpPr txBox="1"/>
          <p:nvPr>
            <p:ph idx="1" type="body"/>
          </p:nvPr>
        </p:nvSpPr>
        <p:spPr>
          <a:xfrm>
            <a:off x="713225" y="1682875"/>
            <a:ext cx="3780900" cy="27348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2"/>
              </a:buClr>
              <a:buSzPts val="1400"/>
              <a:buChar char="■"/>
              <a:defRPr/>
            </a:lvl1pPr>
            <a:lvl2pPr indent="-317500" lvl="1" marL="914400" rtl="0">
              <a:lnSpc>
                <a:spcPct val="115000"/>
              </a:lnSpc>
              <a:spcBef>
                <a:spcPts val="0"/>
              </a:spcBef>
              <a:spcAft>
                <a:spcPts val="0"/>
              </a:spcAft>
              <a:buSzPts val="1400"/>
              <a:buFont typeface="Chivo"/>
              <a:buChar char="○"/>
              <a:defRPr/>
            </a:lvl2pPr>
            <a:lvl3pPr indent="-317500" lvl="2" marL="1371600" rtl="0">
              <a:lnSpc>
                <a:spcPct val="115000"/>
              </a:lnSpc>
              <a:spcBef>
                <a:spcPts val="1600"/>
              </a:spcBef>
              <a:spcAft>
                <a:spcPts val="0"/>
              </a:spcAft>
              <a:buSzPts val="1400"/>
              <a:buFont typeface="Chivo"/>
              <a:buChar char="■"/>
              <a:defRPr/>
            </a:lvl3pPr>
            <a:lvl4pPr indent="-317500" lvl="3" marL="1828800" rtl="0">
              <a:lnSpc>
                <a:spcPct val="115000"/>
              </a:lnSpc>
              <a:spcBef>
                <a:spcPts val="1600"/>
              </a:spcBef>
              <a:spcAft>
                <a:spcPts val="0"/>
              </a:spcAft>
              <a:buSzPts val="1400"/>
              <a:buFont typeface="Chivo"/>
              <a:buChar char="●"/>
              <a:defRPr/>
            </a:lvl4pPr>
            <a:lvl5pPr indent="-317500" lvl="4" marL="2286000" rtl="0">
              <a:lnSpc>
                <a:spcPct val="115000"/>
              </a:lnSpc>
              <a:spcBef>
                <a:spcPts val="1600"/>
              </a:spcBef>
              <a:spcAft>
                <a:spcPts val="0"/>
              </a:spcAft>
              <a:buSzPts val="1400"/>
              <a:buFont typeface="Chivo"/>
              <a:buChar char="○"/>
              <a:defRPr/>
            </a:lvl5pPr>
            <a:lvl6pPr indent="-317500" lvl="5" marL="2743200" rtl="0">
              <a:lnSpc>
                <a:spcPct val="115000"/>
              </a:lnSpc>
              <a:spcBef>
                <a:spcPts val="1600"/>
              </a:spcBef>
              <a:spcAft>
                <a:spcPts val="0"/>
              </a:spcAft>
              <a:buSzPts val="1400"/>
              <a:buFont typeface="Chivo"/>
              <a:buChar char="■"/>
              <a:defRPr/>
            </a:lvl6pPr>
            <a:lvl7pPr indent="-317500" lvl="6" marL="3200400" rtl="0">
              <a:lnSpc>
                <a:spcPct val="115000"/>
              </a:lnSpc>
              <a:spcBef>
                <a:spcPts val="1600"/>
              </a:spcBef>
              <a:spcAft>
                <a:spcPts val="0"/>
              </a:spcAft>
              <a:buSzPts val="1400"/>
              <a:buFont typeface="Chivo"/>
              <a:buChar char="●"/>
              <a:defRPr/>
            </a:lvl7pPr>
            <a:lvl8pPr indent="-317500" lvl="7" marL="3657600" rtl="0">
              <a:lnSpc>
                <a:spcPct val="115000"/>
              </a:lnSpc>
              <a:spcBef>
                <a:spcPts val="1600"/>
              </a:spcBef>
              <a:spcAft>
                <a:spcPts val="0"/>
              </a:spcAft>
              <a:buSzPts val="1400"/>
              <a:buFont typeface="Chivo"/>
              <a:buChar char="○"/>
              <a:defRPr/>
            </a:lvl8pPr>
            <a:lvl9pPr indent="-317500" lvl="8" marL="4114800" rtl="0">
              <a:lnSpc>
                <a:spcPct val="115000"/>
              </a:lnSpc>
              <a:spcBef>
                <a:spcPts val="1600"/>
              </a:spcBef>
              <a:spcAft>
                <a:spcPts val="1600"/>
              </a:spcAft>
              <a:buSzPts val="1400"/>
              <a:buFont typeface="Chivo"/>
              <a:buChar char="■"/>
              <a:defRPr/>
            </a:lvl9pPr>
          </a:lstStyle>
          <a:p/>
        </p:txBody>
      </p:sp>
      <p:sp>
        <p:nvSpPr>
          <p:cNvPr id="177" name="Google Shape;177;p25"/>
          <p:cNvSpPr txBox="1"/>
          <p:nvPr>
            <p:ph idx="2" type="body"/>
          </p:nvPr>
        </p:nvSpPr>
        <p:spPr>
          <a:xfrm>
            <a:off x="4651325" y="1682875"/>
            <a:ext cx="3780900" cy="2734800"/>
          </a:xfrm>
          <a:prstGeom prst="rect">
            <a:avLst/>
          </a:prstGeom>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Char char="■"/>
              <a:defRPr/>
            </a:lvl1pPr>
            <a:lvl2pPr indent="-317500" lvl="1" marL="914400" rtl="0">
              <a:lnSpc>
                <a:spcPct val="115000"/>
              </a:lnSpc>
              <a:spcBef>
                <a:spcPts val="0"/>
              </a:spcBef>
              <a:spcAft>
                <a:spcPts val="0"/>
              </a:spcAft>
              <a:buSzPts val="1400"/>
              <a:buFont typeface="Chivo"/>
              <a:buChar char="○"/>
              <a:defRPr/>
            </a:lvl2pPr>
            <a:lvl3pPr indent="-317500" lvl="2" marL="1371600" rtl="0">
              <a:lnSpc>
                <a:spcPct val="115000"/>
              </a:lnSpc>
              <a:spcBef>
                <a:spcPts val="1600"/>
              </a:spcBef>
              <a:spcAft>
                <a:spcPts val="0"/>
              </a:spcAft>
              <a:buSzPts val="1400"/>
              <a:buFont typeface="Chivo"/>
              <a:buChar char="■"/>
              <a:defRPr/>
            </a:lvl3pPr>
            <a:lvl4pPr indent="-317500" lvl="3" marL="1828800" rtl="0">
              <a:lnSpc>
                <a:spcPct val="115000"/>
              </a:lnSpc>
              <a:spcBef>
                <a:spcPts val="1600"/>
              </a:spcBef>
              <a:spcAft>
                <a:spcPts val="0"/>
              </a:spcAft>
              <a:buSzPts val="1400"/>
              <a:buFont typeface="Chivo"/>
              <a:buChar char="●"/>
              <a:defRPr/>
            </a:lvl4pPr>
            <a:lvl5pPr indent="-317500" lvl="4" marL="2286000" rtl="0">
              <a:lnSpc>
                <a:spcPct val="115000"/>
              </a:lnSpc>
              <a:spcBef>
                <a:spcPts val="1600"/>
              </a:spcBef>
              <a:spcAft>
                <a:spcPts val="0"/>
              </a:spcAft>
              <a:buSzPts val="1400"/>
              <a:buFont typeface="Chivo"/>
              <a:buChar char="○"/>
              <a:defRPr/>
            </a:lvl5pPr>
            <a:lvl6pPr indent="-317500" lvl="5" marL="2743200" rtl="0">
              <a:lnSpc>
                <a:spcPct val="115000"/>
              </a:lnSpc>
              <a:spcBef>
                <a:spcPts val="1600"/>
              </a:spcBef>
              <a:spcAft>
                <a:spcPts val="0"/>
              </a:spcAft>
              <a:buSzPts val="1400"/>
              <a:buFont typeface="Chivo"/>
              <a:buChar char="■"/>
              <a:defRPr/>
            </a:lvl6pPr>
            <a:lvl7pPr indent="-317500" lvl="6" marL="3200400" rtl="0">
              <a:lnSpc>
                <a:spcPct val="115000"/>
              </a:lnSpc>
              <a:spcBef>
                <a:spcPts val="1600"/>
              </a:spcBef>
              <a:spcAft>
                <a:spcPts val="0"/>
              </a:spcAft>
              <a:buSzPts val="1400"/>
              <a:buFont typeface="Chivo"/>
              <a:buChar char="●"/>
              <a:defRPr/>
            </a:lvl7pPr>
            <a:lvl8pPr indent="-317500" lvl="7" marL="3657600" rtl="0">
              <a:lnSpc>
                <a:spcPct val="115000"/>
              </a:lnSpc>
              <a:spcBef>
                <a:spcPts val="1600"/>
              </a:spcBef>
              <a:spcAft>
                <a:spcPts val="0"/>
              </a:spcAft>
              <a:buSzPts val="1400"/>
              <a:buFont typeface="Chivo"/>
              <a:buChar char="○"/>
              <a:defRPr/>
            </a:lvl8pPr>
            <a:lvl9pPr indent="-317500" lvl="8" marL="4114800" rtl="0">
              <a:lnSpc>
                <a:spcPct val="115000"/>
              </a:lnSpc>
              <a:spcBef>
                <a:spcPts val="1600"/>
              </a:spcBef>
              <a:spcAft>
                <a:spcPts val="1600"/>
              </a:spcAft>
              <a:buSzPts val="1400"/>
              <a:buFont typeface="Chivo"/>
              <a:buChar char="■"/>
              <a:defRPr/>
            </a:lvl9pPr>
          </a:lstStyle>
          <a:p/>
        </p:txBody>
      </p:sp>
      <p:sp>
        <p:nvSpPr>
          <p:cNvPr id="178" name="Google Shape;178;p25"/>
          <p:cNvSpPr txBox="1"/>
          <p:nvPr>
            <p:ph idx="3" type="subTitle"/>
          </p:nvPr>
        </p:nvSpPr>
        <p:spPr>
          <a:xfrm>
            <a:off x="713250" y="1217050"/>
            <a:ext cx="77175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79" name="Google Shape;179;p25"/>
          <p:cNvSpPr/>
          <p:nvPr/>
        </p:nvSpPr>
        <p:spPr>
          <a:xfrm flipH="1">
            <a:off x="713400" y="4876025"/>
            <a:ext cx="84306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 name="Google Shape;180;p25"/>
          <p:cNvGrpSpPr/>
          <p:nvPr/>
        </p:nvGrpSpPr>
        <p:grpSpPr>
          <a:xfrm>
            <a:off x="283800" y="-4100"/>
            <a:ext cx="8576400" cy="5147625"/>
            <a:chOff x="283800" y="-4100"/>
            <a:chExt cx="8576400" cy="5147625"/>
          </a:xfrm>
        </p:grpSpPr>
        <p:cxnSp>
          <p:nvCxnSpPr>
            <p:cNvPr id="181" name="Google Shape;181;p25"/>
            <p:cNvCxnSpPr/>
            <p:nvPr/>
          </p:nvCxnSpPr>
          <p:spPr>
            <a:xfrm>
              <a:off x="8860200" y="2571925"/>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182" name="Google Shape;182;p25"/>
            <p:cNvCxnSpPr/>
            <p:nvPr/>
          </p:nvCxnSpPr>
          <p:spPr>
            <a:xfrm>
              <a:off x="283800" y="-4100"/>
              <a:ext cx="0" cy="25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
    <p:spTree>
      <p:nvGrpSpPr>
        <p:cNvPr id="183" name="Shape 183"/>
        <p:cNvGrpSpPr/>
        <p:nvPr/>
      </p:nvGrpSpPr>
      <p:grpSpPr>
        <a:xfrm>
          <a:off x="0" y="0"/>
          <a:ext cx="0" cy="0"/>
          <a:chOff x="0" y="0"/>
          <a:chExt cx="0" cy="0"/>
        </a:xfrm>
      </p:grpSpPr>
      <p:sp>
        <p:nvSpPr>
          <p:cNvPr id="184" name="Google Shape;184;p2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85" name="Google Shape;185;p26"/>
          <p:cNvSpPr txBox="1"/>
          <p:nvPr>
            <p:ph idx="1" type="subTitle"/>
          </p:nvPr>
        </p:nvSpPr>
        <p:spPr>
          <a:xfrm>
            <a:off x="1106875" y="1964500"/>
            <a:ext cx="3200400" cy="1887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6" name="Google Shape;186;p26"/>
          <p:cNvSpPr txBox="1"/>
          <p:nvPr>
            <p:ph idx="2" type="subTitle"/>
          </p:nvPr>
        </p:nvSpPr>
        <p:spPr>
          <a:xfrm>
            <a:off x="4836725" y="1964500"/>
            <a:ext cx="3200400" cy="1887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7" name="Google Shape;187;p26"/>
          <p:cNvSpPr/>
          <p:nvPr/>
        </p:nvSpPr>
        <p:spPr>
          <a:xfrm rot="10800000">
            <a:off x="8860200" y="-26"/>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26"/>
          <p:cNvGrpSpPr/>
          <p:nvPr/>
        </p:nvGrpSpPr>
        <p:grpSpPr>
          <a:xfrm rot="10800000">
            <a:off x="-125" y="267450"/>
            <a:ext cx="9002225" cy="4876050"/>
            <a:chOff x="141900" y="-26"/>
            <a:chExt cx="9002225" cy="4876050"/>
          </a:xfrm>
        </p:grpSpPr>
        <p:cxnSp>
          <p:nvCxnSpPr>
            <p:cNvPr id="189" name="Google Shape;189;p26"/>
            <p:cNvCxnSpPr/>
            <p:nvPr/>
          </p:nvCxnSpPr>
          <p:spPr>
            <a:xfrm>
              <a:off x="7404125" y="4876024"/>
              <a:ext cx="1740000" cy="0"/>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26"/>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191" name="Shape 191"/>
        <p:cNvGrpSpPr/>
        <p:nvPr/>
      </p:nvGrpSpPr>
      <p:grpSpPr>
        <a:xfrm>
          <a:off x="0" y="0"/>
          <a:ext cx="0" cy="0"/>
          <a:chOff x="0" y="0"/>
          <a:chExt cx="0" cy="0"/>
        </a:xfrm>
      </p:grpSpPr>
      <p:sp>
        <p:nvSpPr>
          <p:cNvPr id="192" name="Google Shape;192;p2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93" name="Google Shape;193;p27"/>
          <p:cNvSpPr txBox="1"/>
          <p:nvPr>
            <p:ph idx="1" type="subTitle"/>
          </p:nvPr>
        </p:nvSpPr>
        <p:spPr>
          <a:xfrm>
            <a:off x="713263"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4" name="Google Shape;194;p27"/>
          <p:cNvSpPr txBox="1"/>
          <p:nvPr>
            <p:ph idx="2" type="subTitle"/>
          </p:nvPr>
        </p:nvSpPr>
        <p:spPr>
          <a:xfrm>
            <a:off x="713263" y="2785375"/>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95" name="Google Shape;195;p27"/>
          <p:cNvSpPr txBox="1"/>
          <p:nvPr>
            <p:ph idx="3" type="subTitle"/>
          </p:nvPr>
        </p:nvSpPr>
        <p:spPr>
          <a:xfrm>
            <a:off x="6030438"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6" name="Google Shape;196;p27"/>
          <p:cNvSpPr txBox="1"/>
          <p:nvPr>
            <p:ph idx="4" type="subTitle"/>
          </p:nvPr>
        </p:nvSpPr>
        <p:spPr>
          <a:xfrm>
            <a:off x="6030438" y="2782400"/>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97" name="Google Shape;197;p27"/>
          <p:cNvSpPr txBox="1"/>
          <p:nvPr>
            <p:ph idx="5" type="subTitle"/>
          </p:nvPr>
        </p:nvSpPr>
        <p:spPr>
          <a:xfrm>
            <a:off x="3371850"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8" name="Google Shape;198;p27"/>
          <p:cNvSpPr txBox="1"/>
          <p:nvPr>
            <p:ph idx="6" type="subTitle"/>
          </p:nvPr>
        </p:nvSpPr>
        <p:spPr>
          <a:xfrm>
            <a:off x="3371850" y="2782400"/>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5">
    <p:spTree>
      <p:nvGrpSpPr>
        <p:cNvPr id="199" name="Shape 199"/>
        <p:cNvGrpSpPr/>
        <p:nvPr/>
      </p:nvGrpSpPr>
      <p:grpSpPr>
        <a:xfrm>
          <a:off x="0" y="0"/>
          <a:ext cx="0" cy="0"/>
          <a:chOff x="0" y="0"/>
          <a:chExt cx="0" cy="0"/>
        </a:xfrm>
      </p:grpSpPr>
      <p:sp>
        <p:nvSpPr>
          <p:cNvPr id="200" name="Google Shape;200;p2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01" name="Google Shape;201;p28"/>
          <p:cNvSpPr txBox="1"/>
          <p:nvPr>
            <p:ph idx="1" type="subTitle"/>
          </p:nvPr>
        </p:nvSpPr>
        <p:spPr>
          <a:xfrm>
            <a:off x="865625"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2" name="Google Shape;202;p28"/>
          <p:cNvSpPr txBox="1"/>
          <p:nvPr>
            <p:ph idx="2" type="subTitle"/>
          </p:nvPr>
        </p:nvSpPr>
        <p:spPr>
          <a:xfrm>
            <a:off x="865625"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3" name="Google Shape;203;p28"/>
          <p:cNvSpPr txBox="1"/>
          <p:nvPr>
            <p:ph idx="3" type="subTitle"/>
          </p:nvPr>
        </p:nvSpPr>
        <p:spPr>
          <a:xfrm>
            <a:off x="6015775"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4" name="Google Shape;204;p28"/>
          <p:cNvSpPr txBox="1"/>
          <p:nvPr>
            <p:ph idx="4" type="subTitle"/>
          </p:nvPr>
        </p:nvSpPr>
        <p:spPr>
          <a:xfrm>
            <a:off x="6015775"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5" name="Google Shape;205;p28"/>
          <p:cNvSpPr txBox="1"/>
          <p:nvPr>
            <p:ph idx="5" type="subTitle"/>
          </p:nvPr>
        </p:nvSpPr>
        <p:spPr>
          <a:xfrm>
            <a:off x="3440700"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6" name="Google Shape;206;p28"/>
          <p:cNvSpPr txBox="1"/>
          <p:nvPr>
            <p:ph idx="6" type="subTitle"/>
          </p:nvPr>
        </p:nvSpPr>
        <p:spPr>
          <a:xfrm>
            <a:off x="3440700"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7" name="Google Shape;207;p28"/>
          <p:cNvSpPr/>
          <p:nvPr/>
        </p:nvSpPr>
        <p:spPr>
          <a:xfrm>
            <a:off x="0" y="4876025"/>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28"/>
          <p:cNvGrpSpPr/>
          <p:nvPr/>
        </p:nvGrpSpPr>
        <p:grpSpPr>
          <a:xfrm>
            <a:off x="283800" y="-48"/>
            <a:ext cx="8860200" cy="5009873"/>
            <a:chOff x="283800" y="-48"/>
            <a:chExt cx="8860200" cy="5009873"/>
          </a:xfrm>
        </p:grpSpPr>
        <p:cxnSp>
          <p:nvCxnSpPr>
            <p:cNvPr id="209" name="Google Shape;209;p28"/>
            <p:cNvCxnSpPr/>
            <p:nvPr/>
          </p:nvCxnSpPr>
          <p:spPr>
            <a:xfrm>
              <a:off x="4572000" y="5009825"/>
              <a:ext cx="4572000" cy="0"/>
            </a:xfrm>
            <a:prstGeom prst="straightConnector1">
              <a:avLst/>
            </a:prstGeom>
            <a:noFill/>
            <a:ln cap="flat" cmpd="sng" w="9525">
              <a:solidFill>
                <a:schemeClr val="dk1"/>
              </a:solidFill>
              <a:prstDash val="solid"/>
              <a:round/>
              <a:headEnd len="med" w="med" type="none"/>
              <a:tailEnd len="med" w="med" type="none"/>
            </a:ln>
          </p:spPr>
        </p:cxnSp>
        <p:cxnSp>
          <p:nvCxnSpPr>
            <p:cNvPr id="210" name="Google Shape;210;p28"/>
            <p:cNvCxnSpPr/>
            <p:nvPr/>
          </p:nvCxnSpPr>
          <p:spPr>
            <a:xfrm rot="10800000">
              <a:off x="283800" y="-48"/>
              <a:ext cx="0" cy="2919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6">
    <p:spTree>
      <p:nvGrpSpPr>
        <p:cNvPr id="211" name="Shape 211"/>
        <p:cNvGrpSpPr/>
        <p:nvPr/>
      </p:nvGrpSpPr>
      <p:grpSpPr>
        <a:xfrm>
          <a:off x="0" y="0"/>
          <a:ext cx="0" cy="0"/>
          <a:chOff x="0" y="0"/>
          <a:chExt cx="0" cy="0"/>
        </a:xfrm>
      </p:grpSpPr>
      <p:sp>
        <p:nvSpPr>
          <p:cNvPr id="212" name="Google Shape;212;p2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13" name="Google Shape;213;p29"/>
          <p:cNvSpPr txBox="1"/>
          <p:nvPr>
            <p:ph idx="1" type="subTitle"/>
          </p:nvPr>
        </p:nvSpPr>
        <p:spPr>
          <a:xfrm>
            <a:off x="1877250" y="1850002"/>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4" name="Google Shape;214;p29"/>
          <p:cNvSpPr txBox="1"/>
          <p:nvPr>
            <p:ph idx="2" type="subTitle"/>
          </p:nvPr>
        </p:nvSpPr>
        <p:spPr>
          <a:xfrm>
            <a:off x="1877250" y="1375200"/>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5" name="Google Shape;215;p29"/>
          <p:cNvSpPr txBox="1"/>
          <p:nvPr>
            <p:ph idx="3" type="subTitle"/>
          </p:nvPr>
        </p:nvSpPr>
        <p:spPr>
          <a:xfrm>
            <a:off x="1877250" y="3515601"/>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6" name="Google Shape;216;p29"/>
          <p:cNvSpPr txBox="1"/>
          <p:nvPr>
            <p:ph idx="4" type="subTitle"/>
          </p:nvPr>
        </p:nvSpPr>
        <p:spPr>
          <a:xfrm>
            <a:off x="1877250" y="3040799"/>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7" name="Google Shape;217;p29"/>
          <p:cNvSpPr txBox="1"/>
          <p:nvPr>
            <p:ph idx="5" type="subTitle"/>
          </p:nvPr>
        </p:nvSpPr>
        <p:spPr>
          <a:xfrm>
            <a:off x="6112075" y="1850002"/>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8" name="Google Shape;218;p29"/>
          <p:cNvSpPr txBox="1"/>
          <p:nvPr>
            <p:ph idx="6" type="subTitle"/>
          </p:nvPr>
        </p:nvSpPr>
        <p:spPr>
          <a:xfrm>
            <a:off x="6112075" y="1375200"/>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9" name="Google Shape;219;p29"/>
          <p:cNvSpPr txBox="1"/>
          <p:nvPr>
            <p:ph idx="7" type="subTitle"/>
          </p:nvPr>
        </p:nvSpPr>
        <p:spPr>
          <a:xfrm>
            <a:off x="6112075" y="3515601"/>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20" name="Google Shape;220;p29"/>
          <p:cNvSpPr txBox="1"/>
          <p:nvPr>
            <p:ph idx="8" type="subTitle"/>
          </p:nvPr>
        </p:nvSpPr>
        <p:spPr>
          <a:xfrm>
            <a:off x="6112075" y="3040799"/>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1" name="Google Shape;221;p29"/>
          <p:cNvSpPr/>
          <p:nvPr/>
        </p:nvSpPr>
        <p:spPr>
          <a:xfrm flipH="1">
            <a:off x="886020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2" name="Google Shape;222;p29"/>
          <p:cNvCxnSpPr/>
          <p:nvPr/>
        </p:nvCxnSpPr>
        <p:spPr>
          <a:xfrm rot="10800000">
            <a:off x="9002100" y="-26"/>
            <a:ext cx="0" cy="3958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6_1">
    <p:spTree>
      <p:nvGrpSpPr>
        <p:cNvPr id="223" name="Shape 223"/>
        <p:cNvGrpSpPr/>
        <p:nvPr/>
      </p:nvGrpSpPr>
      <p:grpSpPr>
        <a:xfrm>
          <a:off x="0" y="0"/>
          <a:ext cx="0" cy="0"/>
          <a:chOff x="0" y="0"/>
          <a:chExt cx="0" cy="0"/>
        </a:xfrm>
      </p:grpSpPr>
      <p:sp>
        <p:nvSpPr>
          <p:cNvPr id="224" name="Google Shape;224;p30"/>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25" name="Google Shape;225;p30"/>
          <p:cNvSpPr txBox="1"/>
          <p:nvPr>
            <p:ph idx="1" type="subTitle"/>
          </p:nvPr>
        </p:nvSpPr>
        <p:spPr>
          <a:xfrm>
            <a:off x="7132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6" name="Google Shape;226;p30"/>
          <p:cNvSpPr txBox="1"/>
          <p:nvPr>
            <p:ph idx="2" type="subTitle"/>
          </p:nvPr>
        </p:nvSpPr>
        <p:spPr>
          <a:xfrm>
            <a:off x="7132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7" name="Google Shape;227;p30"/>
          <p:cNvSpPr txBox="1"/>
          <p:nvPr>
            <p:ph idx="3" type="subTitle"/>
          </p:nvPr>
        </p:nvSpPr>
        <p:spPr>
          <a:xfrm>
            <a:off x="60304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8" name="Google Shape;228;p30"/>
          <p:cNvSpPr txBox="1"/>
          <p:nvPr>
            <p:ph idx="4" type="subTitle"/>
          </p:nvPr>
        </p:nvSpPr>
        <p:spPr>
          <a:xfrm>
            <a:off x="60304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9" name="Google Shape;229;p30"/>
          <p:cNvSpPr txBox="1"/>
          <p:nvPr>
            <p:ph idx="5" type="subTitle"/>
          </p:nvPr>
        </p:nvSpPr>
        <p:spPr>
          <a:xfrm>
            <a:off x="33718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0" name="Google Shape;230;p30"/>
          <p:cNvSpPr txBox="1"/>
          <p:nvPr>
            <p:ph idx="6" type="subTitle"/>
          </p:nvPr>
        </p:nvSpPr>
        <p:spPr>
          <a:xfrm>
            <a:off x="33718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1" name="Google Shape;231;p30"/>
          <p:cNvSpPr txBox="1"/>
          <p:nvPr>
            <p:ph idx="7" type="subTitle"/>
          </p:nvPr>
        </p:nvSpPr>
        <p:spPr>
          <a:xfrm>
            <a:off x="2042531"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2" name="Google Shape;232;p30"/>
          <p:cNvSpPr txBox="1"/>
          <p:nvPr>
            <p:ph idx="8" type="subTitle"/>
          </p:nvPr>
        </p:nvSpPr>
        <p:spPr>
          <a:xfrm>
            <a:off x="2042531"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3" name="Google Shape;233;p30"/>
          <p:cNvSpPr txBox="1"/>
          <p:nvPr>
            <p:ph idx="9" type="subTitle"/>
          </p:nvPr>
        </p:nvSpPr>
        <p:spPr>
          <a:xfrm>
            <a:off x="4701169"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4" name="Google Shape;234;p30"/>
          <p:cNvSpPr txBox="1"/>
          <p:nvPr>
            <p:ph idx="13" type="subTitle"/>
          </p:nvPr>
        </p:nvSpPr>
        <p:spPr>
          <a:xfrm>
            <a:off x="4701169"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5" name="Google Shape;235;p30"/>
          <p:cNvSpPr/>
          <p:nvPr/>
        </p:nvSpPr>
        <p:spPr>
          <a:xfrm>
            <a:off x="0" y="4876025"/>
            <a:ext cx="84306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30"/>
          <p:cNvGrpSpPr/>
          <p:nvPr/>
        </p:nvGrpSpPr>
        <p:grpSpPr>
          <a:xfrm flipH="1">
            <a:off x="283800" y="-4100"/>
            <a:ext cx="8576400" cy="5147625"/>
            <a:chOff x="283800" y="-4100"/>
            <a:chExt cx="8576400" cy="5147625"/>
          </a:xfrm>
        </p:grpSpPr>
        <p:cxnSp>
          <p:nvCxnSpPr>
            <p:cNvPr id="237" name="Google Shape;237;p30"/>
            <p:cNvCxnSpPr/>
            <p:nvPr/>
          </p:nvCxnSpPr>
          <p:spPr>
            <a:xfrm>
              <a:off x="8860200" y="2571925"/>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238" name="Google Shape;238;p30"/>
            <p:cNvCxnSpPr/>
            <p:nvPr/>
          </p:nvCxnSpPr>
          <p:spPr>
            <a:xfrm>
              <a:off x="283800" y="-4100"/>
              <a:ext cx="0" cy="25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39" name="Shape 239"/>
        <p:cNvGrpSpPr/>
        <p:nvPr/>
      </p:nvGrpSpPr>
      <p:grpSpPr>
        <a:xfrm>
          <a:off x="0" y="0"/>
          <a:ext cx="0" cy="0"/>
          <a:chOff x="0" y="0"/>
          <a:chExt cx="0" cy="0"/>
        </a:xfrm>
      </p:grpSpPr>
      <p:sp>
        <p:nvSpPr>
          <p:cNvPr id="240" name="Google Shape;240;p3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41" name="Google Shape;241;p31"/>
          <p:cNvSpPr txBox="1"/>
          <p:nvPr>
            <p:ph idx="1" type="subTitle"/>
          </p:nvPr>
        </p:nvSpPr>
        <p:spPr>
          <a:xfrm>
            <a:off x="713244"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2" name="Google Shape;242;p31"/>
          <p:cNvSpPr txBox="1"/>
          <p:nvPr>
            <p:ph idx="2" type="subTitle"/>
          </p:nvPr>
        </p:nvSpPr>
        <p:spPr>
          <a:xfrm>
            <a:off x="713244"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3" name="Google Shape;243;p31"/>
          <p:cNvSpPr txBox="1"/>
          <p:nvPr>
            <p:ph idx="3" type="subTitle"/>
          </p:nvPr>
        </p:nvSpPr>
        <p:spPr>
          <a:xfrm>
            <a:off x="6030456"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4" name="Google Shape;244;p31"/>
          <p:cNvSpPr txBox="1"/>
          <p:nvPr>
            <p:ph idx="4" type="subTitle"/>
          </p:nvPr>
        </p:nvSpPr>
        <p:spPr>
          <a:xfrm>
            <a:off x="6030456"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5" name="Google Shape;245;p31"/>
          <p:cNvSpPr txBox="1"/>
          <p:nvPr>
            <p:ph idx="5" type="subTitle"/>
          </p:nvPr>
        </p:nvSpPr>
        <p:spPr>
          <a:xfrm>
            <a:off x="33718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6" name="Google Shape;246;p31"/>
          <p:cNvSpPr txBox="1"/>
          <p:nvPr>
            <p:ph idx="6" type="subTitle"/>
          </p:nvPr>
        </p:nvSpPr>
        <p:spPr>
          <a:xfrm>
            <a:off x="33718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7" name="Google Shape;247;p31"/>
          <p:cNvSpPr txBox="1"/>
          <p:nvPr>
            <p:ph idx="7" type="subTitle"/>
          </p:nvPr>
        </p:nvSpPr>
        <p:spPr>
          <a:xfrm>
            <a:off x="713244"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8" name="Google Shape;248;p31"/>
          <p:cNvSpPr txBox="1"/>
          <p:nvPr>
            <p:ph idx="8" type="subTitle"/>
          </p:nvPr>
        </p:nvSpPr>
        <p:spPr>
          <a:xfrm>
            <a:off x="713244"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9" name="Google Shape;249;p31"/>
          <p:cNvSpPr txBox="1"/>
          <p:nvPr>
            <p:ph idx="9" type="subTitle"/>
          </p:nvPr>
        </p:nvSpPr>
        <p:spPr>
          <a:xfrm>
            <a:off x="3371850"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0" name="Google Shape;250;p31"/>
          <p:cNvSpPr txBox="1"/>
          <p:nvPr>
            <p:ph idx="13" type="subTitle"/>
          </p:nvPr>
        </p:nvSpPr>
        <p:spPr>
          <a:xfrm>
            <a:off x="3371850"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51" name="Google Shape;251;p31"/>
          <p:cNvSpPr txBox="1"/>
          <p:nvPr>
            <p:ph idx="14" type="subTitle"/>
          </p:nvPr>
        </p:nvSpPr>
        <p:spPr>
          <a:xfrm>
            <a:off x="6030456"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2" name="Google Shape;252;p31"/>
          <p:cNvSpPr txBox="1"/>
          <p:nvPr>
            <p:ph idx="15" type="subTitle"/>
          </p:nvPr>
        </p:nvSpPr>
        <p:spPr>
          <a:xfrm>
            <a:off x="6030456"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53" name="Google Shape;253;p31"/>
          <p:cNvSpPr/>
          <p:nvPr/>
        </p:nvSpPr>
        <p:spPr>
          <a:xfrm flipH="1" rot="10800000">
            <a:off x="25" y="-26"/>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 name="Google Shape;254;p31"/>
          <p:cNvGrpSpPr/>
          <p:nvPr/>
        </p:nvGrpSpPr>
        <p:grpSpPr>
          <a:xfrm flipH="1" rot="10800000">
            <a:off x="141925" y="267450"/>
            <a:ext cx="9001950" cy="4876050"/>
            <a:chOff x="141900" y="-26"/>
            <a:chExt cx="9001950" cy="4876050"/>
          </a:xfrm>
        </p:grpSpPr>
        <p:cxnSp>
          <p:nvCxnSpPr>
            <p:cNvPr id="255" name="Google Shape;255;p31"/>
            <p:cNvCxnSpPr/>
            <p:nvPr/>
          </p:nvCxnSpPr>
          <p:spPr>
            <a:xfrm>
              <a:off x="7907850" y="4876024"/>
              <a:ext cx="1236000" cy="0"/>
            </a:xfrm>
            <a:prstGeom prst="straightConnector1">
              <a:avLst/>
            </a:prstGeom>
            <a:noFill/>
            <a:ln cap="flat" cmpd="sng" w="9525">
              <a:solidFill>
                <a:schemeClr val="dk1"/>
              </a:solidFill>
              <a:prstDash val="solid"/>
              <a:round/>
              <a:headEnd len="med" w="med" type="none"/>
              <a:tailEnd len="med" w="med" type="none"/>
            </a:ln>
          </p:spPr>
        </p:cxnSp>
        <p:cxnSp>
          <p:nvCxnSpPr>
            <p:cNvPr id="256" name="Google Shape;256;p31"/>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257" name="Shape 257"/>
        <p:cNvGrpSpPr/>
        <p:nvPr/>
      </p:nvGrpSpPr>
      <p:grpSpPr>
        <a:xfrm>
          <a:off x="0" y="0"/>
          <a:ext cx="0" cy="0"/>
          <a:chOff x="0" y="0"/>
          <a:chExt cx="0" cy="0"/>
        </a:xfrm>
      </p:grpSpPr>
      <p:sp>
        <p:nvSpPr>
          <p:cNvPr id="258" name="Google Shape;258;p32"/>
          <p:cNvSpPr txBox="1"/>
          <p:nvPr>
            <p:ph type="title"/>
          </p:nvPr>
        </p:nvSpPr>
        <p:spPr>
          <a:xfrm>
            <a:off x="2654700" y="530250"/>
            <a:ext cx="3834600" cy="1108200"/>
          </a:xfrm>
          <a:prstGeom prst="rect">
            <a:avLst/>
          </a:prstGeom>
        </p:spPr>
        <p:txBody>
          <a:bodyPr anchorCtr="0" anchor="t" bIns="91425" lIns="91425" spcFirstLastPara="1" rIns="91425" wrap="square" tIns="91425">
            <a:noAutofit/>
          </a:bodyPr>
          <a:lstStyle>
            <a:lvl1pPr lvl="0">
              <a:spcBef>
                <a:spcPts val="0"/>
              </a:spcBef>
              <a:spcAft>
                <a:spcPts val="0"/>
              </a:spcAft>
              <a:buSzPts val="7200"/>
              <a:buNone/>
              <a:defRPr sz="6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259" name="Google Shape;259;p32"/>
          <p:cNvSpPr txBox="1"/>
          <p:nvPr>
            <p:ph idx="1" type="subTitle"/>
          </p:nvPr>
        </p:nvSpPr>
        <p:spPr>
          <a:xfrm>
            <a:off x="2654700" y="2342156"/>
            <a:ext cx="3834600" cy="972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50"/>
              <a:buNone/>
              <a:defRPr b="1" sz="1550"/>
            </a:lvl1pPr>
            <a:lvl2pPr lvl="1" rtl="0" algn="ctr">
              <a:lnSpc>
                <a:spcPct val="115000"/>
              </a:lnSpc>
              <a:spcBef>
                <a:spcPts val="0"/>
              </a:spcBef>
              <a:spcAft>
                <a:spcPts val="0"/>
              </a:spcAft>
              <a:buSzPts val="1650"/>
              <a:buNone/>
              <a:defRPr b="1" sz="1650"/>
            </a:lvl2pPr>
            <a:lvl3pPr lvl="2" rtl="0" algn="ctr">
              <a:lnSpc>
                <a:spcPct val="115000"/>
              </a:lnSpc>
              <a:spcBef>
                <a:spcPts val="0"/>
              </a:spcBef>
              <a:spcAft>
                <a:spcPts val="0"/>
              </a:spcAft>
              <a:buSzPts val="1650"/>
              <a:buNone/>
              <a:defRPr b="1" sz="1650"/>
            </a:lvl3pPr>
            <a:lvl4pPr lvl="3" rtl="0" algn="ctr">
              <a:lnSpc>
                <a:spcPct val="115000"/>
              </a:lnSpc>
              <a:spcBef>
                <a:spcPts val="0"/>
              </a:spcBef>
              <a:spcAft>
                <a:spcPts val="0"/>
              </a:spcAft>
              <a:buSzPts val="1650"/>
              <a:buNone/>
              <a:defRPr b="1" sz="1650"/>
            </a:lvl4pPr>
            <a:lvl5pPr lvl="4" rtl="0" algn="ctr">
              <a:lnSpc>
                <a:spcPct val="115000"/>
              </a:lnSpc>
              <a:spcBef>
                <a:spcPts val="0"/>
              </a:spcBef>
              <a:spcAft>
                <a:spcPts val="0"/>
              </a:spcAft>
              <a:buSzPts val="1650"/>
              <a:buNone/>
              <a:defRPr b="1" sz="1650"/>
            </a:lvl5pPr>
            <a:lvl6pPr lvl="5" rtl="0" algn="ctr">
              <a:lnSpc>
                <a:spcPct val="115000"/>
              </a:lnSpc>
              <a:spcBef>
                <a:spcPts val="0"/>
              </a:spcBef>
              <a:spcAft>
                <a:spcPts val="0"/>
              </a:spcAft>
              <a:buSzPts val="1650"/>
              <a:buNone/>
              <a:defRPr b="1" sz="1650"/>
            </a:lvl6pPr>
            <a:lvl7pPr lvl="6" rtl="0" algn="ctr">
              <a:lnSpc>
                <a:spcPct val="115000"/>
              </a:lnSpc>
              <a:spcBef>
                <a:spcPts val="0"/>
              </a:spcBef>
              <a:spcAft>
                <a:spcPts val="0"/>
              </a:spcAft>
              <a:buSzPts val="1650"/>
              <a:buNone/>
              <a:defRPr b="1" sz="1650"/>
            </a:lvl7pPr>
            <a:lvl8pPr lvl="7" rtl="0" algn="ctr">
              <a:lnSpc>
                <a:spcPct val="115000"/>
              </a:lnSpc>
              <a:spcBef>
                <a:spcPts val="0"/>
              </a:spcBef>
              <a:spcAft>
                <a:spcPts val="0"/>
              </a:spcAft>
              <a:buSzPts val="1650"/>
              <a:buNone/>
              <a:defRPr b="1" sz="1650"/>
            </a:lvl8pPr>
            <a:lvl9pPr lvl="8" rtl="0" algn="ctr">
              <a:lnSpc>
                <a:spcPct val="115000"/>
              </a:lnSpc>
              <a:spcBef>
                <a:spcPts val="0"/>
              </a:spcBef>
              <a:spcAft>
                <a:spcPts val="0"/>
              </a:spcAft>
              <a:buSzPts val="1650"/>
              <a:buNone/>
              <a:defRPr b="1" sz="1650"/>
            </a:lvl9pPr>
          </a:lstStyle>
          <a:p/>
        </p:txBody>
      </p:sp>
      <p:sp>
        <p:nvSpPr>
          <p:cNvPr id="260" name="Google Shape;260;p32"/>
          <p:cNvSpPr txBox="1"/>
          <p:nvPr>
            <p:ph idx="2" type="subTitle"/>
          </p:nvPr>
        </p:nvSpPr>
        <p:spPr>
          <a:xfrm>
            <a:off x="2654700" y="4111851"/>
            <a:ext cx="3834600" cy="338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300"/>
              <a:buNone/>
              <a:defRPr sz="1000"/>
            </a:lvl1pPr>
            <a:lvl2pPr lvl="1" rtl="0" algn="ctr">
              <a:lnSpc>
                <a:spcPct val="115000"/>
              </a:lnSpc>
              <a:spcBef>
                <a:spcPts val="0"/>
              </a:spcBef>
              <a:spcAft>
                <a:spcPts val="0"/>
              </a:spcAft>
              <a:buSzPts val="1300"/>
              <a:buNone/>
              <a:defRPr b="1" sz="1300"/>
            </a:lvl2pPr>
            <a:lvl3pPr lvl="2" rtl="0" algn="ctr">
              <a:lnSpc>
                <a:spcPct val="115000"/>
              </a:lnSpc>
              <a:spcBef>
                <a:spcPts val="0"/>
              </a:spcBef>
              <a:spcAft>
                <a:spcPts val="0"/>
              </a:spcAft>
              <a:buSzPts val="1300"/>
              <a:buNone/>
              <a:defRPr b="1" sz="1300"/>
            </a:lvl3pPr>
            <a:lvl4pPr lvl="3" rtl="0" algn="ctr">
              <a:lnSpc>
                <a:spcPct val="115000"/>
              </a:lnSpc>
              <a:spcBef>
                <a:spcPts val="0"/>
              </a:spcBef>
              <a:spcAft>
                <a:spcPts val="0"/>
              </a:spcAft>
              <a:buSzPts val="1300"/>
              <a:buNone/>
              <a:defRPr b="1" sz="1300"/>
            </a:lvl4pPr>
            <a:lvl5pPr lvl="4" rtl="0" algn="ctr">
              <a:lnSpc>
                <a:spcPct val="115000"/>
              </a:lnSpc>
              <a:spcBef>
                <a:spcPts val="0"/>
              </a:spcBef>
              <a:spcAft>
                <a:spcPts val="0"/>
              </a:spcAft>
              <a:buSzPts val="1300"/>
              <a:buNone/>
              <a:defRPr b="1" sz="1300"/>
            </a:lvl5pPr>
            <a:lvl6pPr lvl="5" rtl="0" algn="ctr">
              <a:lnSpc>
                <a:spcPct val="115000"/>
              </a:lnSpc>
              <a:spcBef>
                <a:spcPts val="0"/>
              </a:spcBef>
              <a:spcAft>
                <a:spcPts val="0"/>
              </a:spcAft>
              <a:buSzPts val="1300"/>
              <a:buNone/>
              <a:defRPr b="1" sz="1300"/>
            </a:lvl6pPr>
            <a:lvl7pPr lvl="6" rtl="0" algn="ctr">
              <a:lnSpc>
                <a:spcPct val="115000"/>
              </a:lnSpc>
              <a:spcBef>
                <a:spcPts val="0"/>
              </a:spcBef>
              <a:spcAft>
                <a:spcPts val="0"/>
              </a:spcAft>
              <a:buSzPts val="1300"/>
              <a:buNone/>
              <a:defRPr b="1" sz="1300"/>
            </a:lvl7pPr>
            <a:lvl8pPr lvl="7" rtl="0" algn="ctr">
              <a:lnSpc>
                <a:spcPct val="115000"/>
              </a:lnSpc>
              <a:spcBef>
                <a:spcPts val="0"/>
              </a:spcBef>
              <a:spcAft>
                <a:spcPts val="0"/>
              </a:spcAft>
              <a:buSzPts val="1300"/>
              <a:buNone/>
              <a:defRPr b="1" sz="1300"/>
            </a:lvl8pPr>
            <a:lvl9pPr lvl="8" rtl="0" algn="ctr">
              <a:lnSpc>
                <a:spcPct val="115000"/>
              </a:lnSpc>
              <a:spcBef>
                <a:spcPts val="0"/>
              </a:spcBef>
              <a:spcAft>
                <a:spcPts val="0"/>
              </a:spcAft>
              <a:buSzPts val="1300"/>
              <a:buNone/>
              <a:defRPr b="1" sz="1300"/>
            </a:lvl9pPr>
          </a:lstStyle>
          <a:p/>
        </p:txBody>
      </p:sp>
      <p:grpSp>
        <p:nvGrpSpPr>
          <p:cNvPr id="261" name="Google Shape;261;p32"/>
          <p:cNvGrpSpPr/>
          <p:nvPr/>
        </p:nvGrpSpPr>
        <p:grpSpPr>
          <a:xfrm>
            <a:off x="713688" y="2579400"/>
            <a:ext cx="8430488" cy="2564100"/>
            <a:chOff x="713688" y="2579400"/>
            <a:chExt cx="8430488" cy="2564100"/>
          </a:xfrm>
        </p:grpSpPr>
        <p:cxnSp>
          <p:nvCxnSpPr>
            <p:cNvPr id="262" name="Google Shape;262;p32"/>
            <p:cNvCxnSpPr/>
            <p:nvPr/>
          </p:nvCxnSpPr>
          <p:spPr>
            <a:xfrm>
              <a:off x="2839075" y="4876025"/>
              <a:ext cx="6305100" cy="0"/>
            </a:xfrm>
            <a:prstGeom prst="straightConnector1">
              <a:avLst/>
            </a:prstGeom>
            <a:noFill/>
            <a:ln cap="flat" cmpd="sng" w="9525">
              <a:solidFill>
                <a:schemeClr val="dk1"/>
              </a:solidFill>
              <a:prstDash val="solid"/>
              <a:round/>
              <a:headEnd len="med" w="med" type="none"/>
              <a:tailEnd len="med" w="med" type="none"/>
            </a:ln>
          </p:spPr>
        </p:cxnSp>
        <p:cxnSp>
          <p:nvCxnSpPr>
            <p:cNvPr id="263" name="Google Shape;263;p32"/>
            <p:cNvCxnSpPr/>
            <p:nvPr/>
          </p:nvCxnSpPr>
          <p:spPr>
            <a:xfrm rot="10800000">
              <a:off x="713688" y="2579400"/>
              <a:ext cx="0" cy="2564100"/>
            </a:xfrm>
            <a:prstGeom prst="straightConnector1">
              <a:avLst/>
            </a:prstGeom>
            <a:noFill/>
            <a:ln cap="flat" cmpd="sng" w="9525">
              <a:solidFill>
                <a:schemeClr val="dk1"/>
              </a:solidFill>
              <a:prstDash val="solid"/>
              <a:round/>
              <a:headEnd len="med" w="med" type="none"/>
              <a:tailEnd len="med" w="med" type="none"/>
            </a:ln>
          </p:spPr>
        </p:cxnSp>
      </p:grpSp>
      <p:sp>
        <p:nvSpPr>
          <p:cNvPr id="264" name="Google Shape;264;p32"/>
          <p:cNvSpPr txBox="1"/>
          <p:nvPr/>
        </p:nvSpPr>
        <p:spPr>
          <a:xfrm>
            <a:off x="2654700" y="3304597"/>
            <a:ext cx="3834600" cy="79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018"/>
              <a:buNone/>
            </a:pPr>
            <a:r>
              <a:rPr lang="en" sz="1200">
                <a:solidFill>
                  <a:schemeClr val="dk1"/>
                </a:solidFill>
                <a:latin typeface="Commissioner"/>
                <a:ea typeface="Commissioner"/>
                <a:cs typeface="Commissioner"/>
                <a:sym typeface="Commissioner"/>
              </a:rPr>
              <a:t>Credits: This presentation template was created by </a:t>
            </a:r>
            <a:r>
              <a:rPr b="1" lang="en" sz="1200" u="sng">
                <a:solidFill>
                  <a:schemeClr val="dk1"/>
                </a:solidFill>
                <a:latin typeface="Commissioner"/>
                <a:ea typeface="Commissioner"/>
                <a:cs typeface="Commissioner"/>
                <a:sym typeface="Commissioner"/>
                <a:hlinkClick r:id="rId2">
                  <a:extLst>
                    <a:ext uri="{A12FA001-AC4F-418D-AE19-62706E023703}">
                      <ahyp:hlinkClr val="tx"/>
                    </a:ext>
                  </a:extLst>
                </a:hlinkClick>
              </a:rPr>
              <a:t>Slidesgo</a:t>
            </a:r>
            <a:r>
              <a:rPr lang="en" sz="1200">
                <a:solidFill>
                  <a:schemeClr val="dk1"/>
                </a:solidFill>
                <a:latin typeface="Commissioner"/>
                <a:ea typeface="Commissioner"/>
                <a:cs typeface="Commissioner"/>
                <a:sym typeface="Commissioner"/>
              </a:rPr>
              <a:t>, and includes icons, infographics &amp; images by </a:t>
            </a:r>
            <a:r>
              <a:rPr b="1" lang="en" sz="1200" u="sng">
                <a:solidFill>
                  <a:schemeClr val="dk1"/>
                </a:solidFill>
                <a:latin typeface="Commissioner"/>
                <a:ea typeface="Commissioner"/>
                <a:cs typeface="Commissioner"/>
                <a:sym typeface="Commissioner"/>
                <a:hlinkClick r:id="rId3">
                  <a:extLst>
                    <a:ext uri="{A12FA001-AC4F-418D-AE19-62706E023703}">
                      <ahyp:hlinkClr val="tx"/>
                    </a:ext>
                  </a:extLst>
                </a:hlinkClick>
              </a:rPr>
              <a:t>Freepi</a:t>
            </a:r>
            <a:r>
              <a:rPr b="1" lang="en" sz="1200" u="sng">
                <a:solidFill>
                  <a:schemeClr val="dk1"/>
                </a:solidFill>
                <a:latin typeface="Commissioner"/>
                <a:ea typeface="Commissioner"/>
                <a:cs typeface="Commissioner"/>
                <a:sym typeface="Commissioner"/>
                <a:hlinkClick r:id="rId4">
                  <a:extLst>
                    <a:ext uri="{A12FA001-AC4F-418D-AE19-62706E023703}">
                      <ahyp:hlinkClr val="tx"/>
                    </a:ext>
                  </a:extLst>
                </a:hlinkClick>
              </a:rPr>
              <a:t>k</a:t>
            </a:r>
            <a:endParaRPr sz="1200">
              <a:solidFill>
                <a:schemeClr val="dk1"/>
              </a:solidFill>
              <a:latin typeface="Commissioner"/>
              <a:ea typeface="Commissioner"/>
              <a:cs typeface="Commissioner"/>
              <a:sym typeface="Commissione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5" name="Shape 265"/>
        <p:cNvGrpSpPr/>
        <p:nvPr/>
      </p:nvGrpSpPr>
      <p:grpSpPr>
        <a:xfrm>
          <a:off x="0" y="0"/>
          <a:ext cx="0" cy="0"/>
          <a:chOff x="0" y="0"/>
          <a:chExt cx="0" cy="0"/>
        </a:xfrm>
      </p:grpSpPr>
      <p:cxnSp>
        <p:nvCxnSpPr>
          <p:cNvPr id="266" name="Google Shape;266;p33"/>
          <p:cNvCxnSpPr/>
          <p:nvPr/>
        </p:nvCxnSpPr>
        <p:spPr>
          <a:xfrm rot="10800000">
            <a:off x="9002100" y="-100"/>
            <a:ext cx="0" cy="2652600"/>
          </a:xfrm>
          <a:prstGeom prst="straightConnector1">
            <a:avLst/>
          </a:prstGeom>
          <a:noFill/>
          <a:ln cap="flat" cmpd="sng" w="9525">
            <a:solidFill>
              <a:schemeClr val="dk1"/>
            </a:solidFill>
            <a:prstDash val="solid"/>
            <a:round/>
            <a:headEnd len="med" w="med" type="none"/>
            <a:tailEnd len="med" w="med" type="none"/>
          </a:ln>
        </p:spPr>
      </p:cxnSp>
      <p:sp>
        <p:nvSpPr>
          <p:cNvPr id="267" name="Google Shape;267;p33"/>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33"/>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269" name="Google Shape;269;p33"/>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
    <p:spTree>
      <p:nvGrpSpPr>
        <p:cNvPr id="270" name="Shape 270"/>
        <p:cNvGrpSpPr/>
        <p:nvPr/>
      </p:nvGrpSpPr>
      <p:grpSpPr>
        <a:xfrm>
          <a:off x="0" y="0"/>
          <a:ext cx="0" cy="0"/>
          <a:chOff x="0" y="0"/>
          <a:chExt cx="0" cy="0"/>
        </a:xfrm>
      </p:grpSpPr>
      <p:sp>
        <p:nvSpPr>
          <p:cNvPr id="271" name="Google Shape;271;p34"/>
          <p:cNvSpPr/>
          <p:nvPr/>
        </p:nvSpPr>
        <p:spPr>
          <a:xfrm rot="10800000">
            <a:off x="125" y="0"/>
            <a:ext cx="716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34"/>
          <p:cNvGrpSpPr/>
          <p:nvPr/>
        </p:nvGrpSpPr>
        <p:grpSpPr>
          <a:xfrm rot="10800000">
            <a:off x="0" y="363100"/>
            <a:ext cx="8860200" cy="4780400"/>
            <a:chOff x="283800" y="0"/>
            <a:chExt cx="8860200" cy="4780400"/>
          </a:xfrm>
        </p:grpSpPr>
        <p:cxnSp>
          <p:nvCxnSpPr>
            <p:cNvPr id="273" name="Google Shape;273;p34"/>
            <p:cNvCxnSpPr/>
            <p:nvPr/>
          </p:nvCxnSpPr>
          <p:spPr>
            <a:xfrm>
              <a:off x="4273200" y="4780400"/>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274" name="Google Shape;274;p34"/>
            <p:cNvCxnSpPr/>
            <p:nvPr/>
          </p:nvCxnSpPr>
          <p:spPr>
            <a:xfrm rot="10800000">
              <a:off x="283800" y="0"/>
              <a:ext cx="0" cy="4131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70650"/>
            <a:ext cx="7717500" cy="5499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p:txBody>
      </p:sp>
      <p:sp>
        <p:nvSpPr>
          <p:cNvPr id="7" name="Google Shape;7;p1"/>
          <p:cNvSpPr txBox="1"/>
          <p:nvPr>
            <p:ph idx="1" type="body"/>
          </p:nvPr>
        </p:nvSpPr>
        <p:spPr>
          <a:xfrm>
            <a:off x="713225" y="1297400"/>
            <a:ext cx="7717500" cy="32715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indent="-317500" lvl="1" marL="9144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indent="-317500" lvl="2" marL="13716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indent="-317500" lvl="3" marL="18288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indent="-317500" lvl="4" marL="22860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indent="-317500" lvl="5" marL="27432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indent="-317500" lvl="6" marL="32004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indent="-317500" lvl="7" marL="36576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indent="-317500" lvl="8" marL="41148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5.png"/><Relationship Id="rId7" Type="http://schemas.openxmlformats.org/officeDocument/2006/relationships/image" Target="../media/image10.png"/><Relationship Id="rId8"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21.png"/><Relationship Id="rId5"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ctrTitle"/>
          </p:nvPr>
        </p:nvSpPr>
        <p:spPr>
          <a:xfrm>
            <a:off x="713225" y="1194450"/>
            <a:ext cx="7480500" cy="221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latin typeface="Times New Roman"/>
                <a:ea typeface="Times New Roman"/>
                <a:cs typeface="Times New Roman"/>
                <a:sym typeface="Times New Roman"/>
              </a:rPr>
              <a:t>Recursive Latent Alignment </a:t>
            </a:r>
            <a:r>
              <a:rPr i="1" lang="en">
                <a:latin typeface="Times New Roman"/>
                <a:ea typeface="Times New Roman"/>
                <a:cs typeface="Times New Roman"/>
                <a:sym typeface="Times New Roman"/>
              </a:rPr>
              <a:t>Multi-scale Precipitation Downscaling via Foundation Model Embeddings</a:t>
            </a:r>
            <a:endParaRPr i="1">
              <a:latin typeface="Times New Roman"/>
              <a:ea typeface="Times New Roman"/>
              <a:cs typeface="Times New Roman"/>
              <a:sym typeface="Times New Roman"/>
            </a:endParaRPr>
          </a:p>
        </p:txBody>
      </p:sp>
      <p:sp>
        <p:nvSpPr>
          <p:cNvPr id="280" name="Google Shape;280;p35"/>
          <p:cNvSpPr txBox="1"/>
          <p:nvPr>
            <p:ph idx="1" type="subTitle"/>
          </p:nvPr>
        </p:nvSpPr>
        <p:spPr>
          <a:xfrm>
            <a:off x="713225" y="3368875"/>
            <a:ext cx="5602200" cy="7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Rishab Sakalkale, Kassidy He, Yunxi Zeng</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p:nvPr/>
        </p:nvSpPr>
        <p:spPr>
          <a:xfrm>
            <a:off x="5045480" y="1451000"/>
            <a:ext cx="852900" cy="369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6" name="Google Shape;286;p36"/>
          <p:cNvGrpSpPr/>
          <p:nvPr/>
        </p:nvGrpSpPr>
        <p:grpSpPr>
          <a:xfrm>
            <a:off x="0" y="1451000"/>
            <a:ext cx="4108200" cy="3692400"/>
            <a:chOff x="0" y="1451000"/>
            <a:chExt cx="4108200" cy="3692400"/>
          </a:xfrm>
        </p:grpSpPr>
        <p:sp>
          <p:nvSpPr>
            <p:cNvPr id="287" name="Google Shape;287;p36"/>
            <p:cNvSpPr/>
            <p:nvPr/>
          </p:nvSpPr>
          <p:spPr>
            <a:xfrm>
              <a:off x="1005300" y="1451000"/>
              <a:ext cx="852900" cy="369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8" name="Google Shape;288;p36"/>
            <p:cNvCxnSpPr/>
            <p:nvPr/>
          </p:nvCxnSpPr>
          <p:spPr>
            <a:xfrm>
              <a:off x="0" y="4797575"/>
              <a:ext cx="4108200" cy="0"/>
            </a:xfrm>
            <a:prstGeom prst="straightConnector1">
              <a:avLst/>
            </a:prstGeom>
            <a:noFill/>
            <a:ln cap="flat" cmpd="sng" w="9525">
              <a:solidFill>
                <a:schemeClr val="dk1"/>
              </a:solidFill>
              <a:prstDash val="solid"/>
              <a:round/>
              <a:headEnd len="med" w="med" type="none"/>
              <a:tailEnd len="med" w="med" type="none"/>
            </a:ln>
          </p:spPr>
        </p:cxnSp>
      </p:grpSp>
      <p:sp>
        <p:nvSpPr>
          <p:cNvPr id="289" name="Google Shape;289;p3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100">
                <a:latin typeface="Times New Roman"/>
                <a:ea typeface="Times New Roman"/>
                <a:cs typeface="Times New Roman"/>
                <a:sym typeface="Times New Roman"/>
              </a:rPr>
              <a:t>Table of </a:t>
            </a:r>
            <a:r>
              <a:rPr lang="en">
                <a:latin typeface="Times New Roman"/>
                <a:ea typeface="Times New Roman"/>
                <a:cs typeface="Times New Roman"/>
                <a:sym typeface="Times New Roman"/>
              </a:rPr>
              <a:t>C</a:t>
            </a:r>
            <a:r>
              <a:rPr lang="en" sz="3100">
                <a:latin typeface="Times New Roman"/>
                <a:ea typeface="Times New Roman"/>
                <a:cs typeface="Times New Roman"/>
                <a:sym typeface="Times New Roman"/>
              </a:rPr>
              <a:t>ontents</a:t>
            </a:r>
            <a:endParaRPr sz="3100">
              <a:latin typeface="Times New Roman"/>
              <a:ea typeface="Times New Roman"/>
              <a:cs typeface="Times New Roman"/>
              <a:sym typeface="Times New Roman"/>
            </a:endParaRPr>
          </a:p>
        </p:txBody>
      </p:sp>
      <p:sp>
        <p:nvSpPr>
          <p:cNvPr id="290" name="Google Shape;290;p36"/>
          <p:cNvSpPr txBox="1"/>
          <p:nvPr>
            <p:ph idx="2" type="subTitle"/>
          </p:nvPr>
        </p:nvSpPr>
        <p:spPr>
          <a:xfrm>
            <a:off x="1936100" y="1370275"/>
            <a:ext cx="2733300" cy="803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291" name="Google Shape;291;p36"/>
          <p:cNvSpPr txBox="1"/>
          <p:nvPr>
            <p:ph idx="3" type="title"/>
          </p:nvPr>
        </p:nvSpPr>
        <p:spPr>
          <a:xfrm>
            <a:off x="993600" y="1483400"/>
            <a:ext cx="876300" cy="11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01</a:t>
            </a:r>
            <a:endParaRPr>
              <a:latin typeface="Times New Roman"/>
              <a:ea typeface="Times New Roman"/>
              <a:cs typeface="Times New Roman"/>
              <a:sym typeface="Times New Roman"/>
            </a:endParaRPr>
          </a:p>
        </p:txBody>
      </p:sp>
      <p:sp>
        <p:nvSpPr>
          <p:cNvPr id="292" name="Google Shape;292;p36"/>
          <p:cNvSpPr txBox="1"/>
          <p:nvPr>
            <p:ph idx="4" type="subTitle"/>
          </p:nvPr>
        </p:nvSpPr>
        <p:spPr>
          <a:xfrm>
            <a:off x="1936100" y="3827200"/>
            <a:ext cx="2288700" cy="6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Experimental results and challenges faced</a:t>
            </a:r>
            <a:endParaRPr>
              <a:latin typeface="Times New Roman"/>
              <a:ea typeface="Times New Roman"/>
              <a:cs typeface="Times New Roman"/>
              <a:sym typeface="Times New Roman"/>
            </a:endParaRPr>
          </a:p>
        </p:txBody>
      </p:sp>
      <p:sp>
        <p:nvSpPr>
          <p:cNvPr id="293" name="Google Shape;293;p36"/>
          <p:cNvSpPr txBox="1"/>
          <p:nvPr>
            <p:ph idx="5" type="subTitle"/>
          </p:nvPr>
        </p:nvSpPr>
        <p:spPr>
          <a:xfrm>
            <a:off x="1936100" y="3068200"/>
            <a:ext cx="2288700" cy="803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294" name="Google Shape;294;p36"/>
          <p:cNvSpPr txBox="1"/>
          <p:nvPr>
            <p:ph idx="6" type="title"/>
          </p:nvPr>
        </p:nvSpPr>
        <p:spPr>
          <a:xfrm>
            <a:off x="993600" y="3179712"/>
            <a:ext cx="876300" cy="11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03</a:t>
            </a:r>
            <a:endParaRPr>
              <a:latin typeface="Times New Roman"/>
              <a:ea typeface="Times New Roman"/>
              <a:cs typeface="Times New Roman"/>
              <a:sym typeface="Times New Roman"/>
            </a:endParaRPr>
          </a:p>
        </p:txBody>
      </p:sp>
      <p:sp>
        <p:nvSpPr>
          <p:cNvPr id="295" name="Google Shape;295;p36"/>
          <p:cNvSpPr txBox="1"/>
          <p:nvPr>
            <p:ph idx="8" type="subTitle"/>
          </p:nvPr>
        </p:nvSpPr>
        <p:spPr>
          <a:xfrm>
            <a:off x="5969576" y="1370275"/>
            <a:ext cx="2530800" cy="803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Data and Models</a:t>
            </a:r>
            <a:endParaRPr>
              <a:latin typeface="Times New Roman"/>
              <a:ea typeface="Times New Roman"/>
              <a:cs typeface="Times New Roman"/>
              <a:sym typeface="Times New Roman"/>
            </a:endParaRPr>
          </a:p>
        </p:txBody>
      </p:sp>
      <p:sp>
        <p:nvSpPr>
          <p:cNvPr id="296" name="Google Shape;296;p36"/>
          <p:cNvSpPr txBox="1"/>
          <p:nvPr>
            <p:ph idx="9" type="title"/>
          </p:nvPr>
        </p:nvSpPr>
        <p:spPr>
          <a:xfrm>
            <a:off x="5033780" y="1483400"/>
            <a:ext cx="876300" cy="11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02</a:t>
            </a:r>
            <a:endParaRPr>
              <a:latin typeface="Times New Roman"/>
              <a:ea typeface="Times New Roman"/>
              <a:cs typeface="Times New Roman"/>
              <a:sym typeface="Times New Roman"/>
            </a:endParaRPr>
          </a:p>
        </p:txBody>
      </p:sp>
      <p:sp>
        <p:nvSpPr>
          <p:cNvPr id="297" name="Google Shape;297;p36"/>
          <p:cNvSpPr txBox="1"/>
          <p:nvPr>
            <p:ph idx="13" type="subTitle"/>
          </p:nvPr>
        </p:nvSpPr>
        <p:spPr>
          <a:xfrm>
            <a:off x="5969570" y="3827175"/>
            <a:ext cx="2288700" cy="6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Limitations and f</a:t>
            </a:r>
            <a:r>
              <a:rPr lang="en">
                <a:latin typeface="Times New Roman"/>
                <a:ea typeface="Times New Roman"/>
                <a:cs typeface="Times New Roman"/>
                <a:sym typeface="Times New Roman"/>
              </a:rPr>
              <a:t>uture direction of the project</a:t>
            </a:r>
            <a:endParaRPr>
              <a:latin typeface="Times New Roman"/>
              <a:ea typeface="Times New Roman"/>
              <a:cs typeface="Times New Roman"/>
              <a:sym typeface="Times New Roman"/>
            </a:endParaRPr>
          </a:p>
        </p:txBody>
      </p:sp>
      <p:sp>
        <p:nvSpPr>
          <p:cNvPr id="298" name="Google Shape;298;p36"/>
          <p:cNvSpPr txBox="1"/>
          <p:nvPr>
            <p:ph idx="14" type="subTitle"/>
          </p:nvPr>
        </p:nvSpPr>
        <p:spPr>
          <a:xfrm>
            <a:off x="5969576" y="3068200"/>
            <a:ext cx="2654400" cy="803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Concluding Remarks</a:t>
            </a:r>
            <a:endParaRPr>
              <a:latin typeface="Times New Roman"/>
              <a:ea typeface="Times New Roman"/>
              <a:cs typeface="Times New Roman"/>
              <a:sym typeface="Times New Roman"/>
            </a:endParaRPr>
          </a:p>
        </p:txBody>
      </p:sp>
      <p:sp>
        <p:nvSpPr>
          <p:cNvPr id="299" name="Google Shape;299;p36"/>
          <p:cNvSpPr txBox="1"/>
          <p:nvPr>
            <p:ph idx="15" type="title"/>
          </p:nvPr>
        </p:nvSpPr>
        <p:spPr>
          <a:xfrm>
            <a:off x="5033780" y="3179712"/>
            <a:ext cx="876300" cy="1152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04</a:t>
            </a:r>
            <a:endParaRPr>
              <a:latin typeface="Times New Roman"/>
              <a:ea typeface="Times New Roman"/>
              <a:cs typeface="Times New Roman"/>
              <a:sym typeface="Times New Roman"/>
            </a:endParaRPr>
          </a:p>
        </p:txBody>
      </p:sp>
      <p:sp>
        <p:nvSpPr>
          <p:cNvPr id="300" name="Google Shape;300;p36"/>
          <p:cNvSpPr txBox="1"/>
          <p:nvPr>
            <p:ph idx="13" type="subTitle"/>
          </p:nvPr>
        </p:nvSpPr>
        <p:spPr>
          <a:xfrm>
            <a:off x="1936095" y="2099863"/>
            <a:ext cx="2288700" cy="6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Problem statement, motivation, and related works</a:t>
            </a:r>
            <a:endParaRPr>
              <a:latin typeface="Times New Roman"/>
              <a:ea typeface="Times New Roman"/>
              <a:cs typeface="Times New Roman"/>
              <a:sym typeface="Times New Roman"/>
            </a:endParaRPr>
          </a:p>
        </p:txBody>
      </p:sp>
      <p:sp>
        <p:nvSpPr>
          <p:cNvPr id="301" name="Google Shape;301;p36"/>
          <p:cNvSpPr txBox="1"/>
          <p:nvPr>
            <p:ph idx="13" type="subTitle"/>
          </p:nvPr>
        </p:nvSpPr>
        <p:spPr>
          <a:xfrm>
            <a:off x="6090620" y="2099850"/>
            <a:ext cx="2288700" cy="6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Data description and baseline + CFM model design</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p37"/>
          <p:cNvGrpSpPr/>
          <p:nvPr/>
        </p:nvGrpSpPr>
        <p:grpSpPr>
          <a:xfrm>
            <a:off x="0" y="0"/>
            <a:ext cx="2473800" cy="4131000"/>
            <a:chOff x="0" y="0"/>
            <a:chExt cx="2473800" cy="4131000"/>
          </a:xfrm>
        </p:grpSpPr>
        <p:sp>
          <p:nvSpPr>
            <p:cNvPr id="307" name="Google Shape;307;p37"/>
            <p:cNvSpPr/>
            <p:nvPr/>
          </p:nvSpPr>
          <p:spPr>
            <a:xfrm>
              <a:off x="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8" name="Google Shape;308;p37"/>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309" name="Google Shape;309;p37"/>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310" name="Google Shape;310;p37"/>
          <p:cNvSpPr txBox="1"/>
          <p:nvPr>
            <p:ph idx="2" type="title"/>
          </p:nvPr>
        </p:nvSpPr>
        <p:spPr>
          <a:xfrm>
            <a:off x="1512075" y="1012500"/>
            <a:ext cx="1076100" cy="87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0</a:t>
            </a: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p38"/>
          <p:cNvSpPr txBox="1"/>
          <p:nvPr>
            <p:ph type="title"/>
          </p:nvPr>
        </p:nvSpPr>
        <p:spPr>
          <a:xfrm>
            <a:off x="1962900" y="829786"/>
            <a:ext cx="5218200" cy="1338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Research Problem</a:t>
            </a:r>
            <a:endParaRPr>
              <a:latin typeface="Times New Roman"/>
              <a:ea typeface="Times New Roman"/>
              <a:cs typeface="Times New Roman"/>
              <a:sym typeface="Times New Roman"/>
            </a:endParaRPr>
          </a:p>
        </p:txBody>
      </p:sp>
      <p:sp>
        <p:nvSpPr>
          <p:cNvPr id="316" name="Google Shape;316;p38"/>
          <p:cNvSpPr txBox="1"/>
          <p:nvPr>
            <p:ph idx="1" type="subTitle"/>
          </p:nvPr>
        </p:nvSpPr>
        <p:spPr>
          <a:xfrm>
            <a:off x="1962900" y="2282714"/>
            <a:ext cx="5218200" cy="203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This project investigates the potential benefits of AlphaEarth (AEF) embeddings in the probabilistic downscaling of low-resolution ERA5 precipitation data.</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9"/>
          <p:cNvSpPr txBox="1"/>
          <p:nvPr>
            <p:ph type="title"/>
          </p:nvPr>
        </p:nvSpPr>
        <p:spPr>
          <a:xfrm>
            <a:off x="639025" y="48190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Background</a:t>
            </a:r>
            <a:endParaRPr>
              <a:latin typeface="Times New Roman"/>
              <a:ea typeface="Times New Roman"/>
              <a:cs typeface="Times New Roman"/>
              <a:sym typeface="Times New Roman"/>
            </a:endParaRPr>
          </a:p>
        </p:txBody>
      </p:sp>
      <p:sp>
        <p:nvSpPr>
          <p:cNvPr id="322" name="Google Shape;322;p39"/>
          <p:cNvSpPr txBox="1"/>
          <p:nvPr>
            <p:ph idx="1" type="subTitle"/>
          </p:nvPr>
        </p:nvSpPr>
        <p:spPr>
          <a:xfrm>
            <a:off x="1106875" y="1964500"/>
            <a:ext cx="6781800" cy="188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High-resolution precipitation fields are critical for hydrological modeling, agricultural planning, and infrastructure risk assessment. Global reanalysis products such as ERA5 provide physically consistent atmospheric states at 25 km resolution, but are far too coarse for applications that require sub-kilometer detail.</a:t>
            </a:r>
            <a:endParaRPr>
              <a:latin typeface="Times New Roman"/>
              <a:ea typeface="Times New Roman"/>
              <a:cs typeface="Times New Roman"/>
              <a:sym typeface="Times New Roman"/>
            </a:endParaRPr>
          </a:p>
        </p:txBody>
      </p:sp>
      <p:pic>
        <p:nvPicPr>
          <p:cNvPr id="323" name="Google Shape;323;p39"/>
          <p:cNvPicPr preferRelativeResize="0"/>
          <p:nvPr/>
        </p:nvPicPr>
        <p:blipFill>
          <a:blip r:embed="rId3">
            <a:alphaModFix/>
          </a:blip>
          <a:stretch>
            <a:fillRect/>
          </a:stretch>
        </p:blipFill>
        <p:spPr>
          <a:xfrm>
            <a:off x="6727200" y="307600"/>
            <a:ext cx="1355300" cy="1331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Related Works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29" name="Google Shape;329;p40"/>
          <p:cNvSpPr txBox="1"/>
          <p:nvPr>
            <p:ph idx="1" type="subTitle"/>
          </p:nvPr>
        </p:nvSpPr>
        <p:spPr>
          <a:xfrm>
            <a:off x="1135750" y="1309525"/>
            <a:ext cx="3200400" cy="18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Traditional dynamical downscaling use computationally intensive (and deterministic) regional climate models to produce high-resolution data. Most ML approaches are deterministic and cannot provide uncertainty quantification.</a:t>
            </a:r>
            <a:endParaRPr>
              <a:latin typeface="Times New Roman"/>
              <a:ea typeface="Times New Roman"/>
              <a:cs typeface="Times New Roman"/>
              <a:sym typeface="Times New Roman"/>
            </a:endParaRPr>
          </a:p>
          <a:p>
            <a:pPr indent="0" lvl="0" marL="0" rtl="0" algn="l">
              <a:spcBef>
                <a:spcPts val="1600"/>
              </a:spcBef>
              <a:spcAft>
                <a:spcPts val="0"/>
              </a:spcAft>
              <a:buNone/>
            </a:pPr>
            <a:r>
              <a:t/>
            </a:r>
            <a:endParaRPr>
              <a:latin typeface="Times New Roman"/>
              <a:ea typeface="Times New Roman"/>
              <a:cs typeface="Times New Roman"/>
              <a:sym typeface="Times New Roman"/>
            </a:endParaRPr>
          </a:p>
        </p:txBody>
      </p:sp>
      <p:sp>
        <p:nvSpPr>
          <p:cNvPr id="330" name="Google Shape;330;p40"/>
          <p:cNvSpPr txBox="1"/>
          <p:nvPr>
            <p:ph idx="2" type="subTitle"/>
          </p:nvPr>
        </p:nvSpPr>
        <p:spPr>
          <a:xfrm>
            <a:off x="4875250" y="1309525"/>
            <a:ext cx="3200400" cy="18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Recent probabilistic approaches use diffusion models (see R2-D2</a:t>
            </a:r>
            <a:r>
              <a:rPr baseline="30000" lang="en">
                <a:latin typeface="Times New Roman"/>
                <a:ea typeface="Times New Roman"/>
                <a:cs typeface="Times New Roman"/>
                <a:sym typeface="Times New Roman"/>
              </a:rPr>
              <a:t>1</a:t>
            </a:r>
            <a:r>
              <a:rPr lang="en">
                <a:latin typeface="Times New Roman"/>
                <a:ea typeface="Times New Roman"/>
                <a:cs typeface="Times New Roman"/>
                <a:sym typeface="Times New Roman"/>
              </a:rPr>
              <a:t>, CorrDiff</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and flow matching to generate ensembles of downscaled data, but are often trained on climate model-generated data and without terrain conditioning, providing output at multi-kilometer scales.</a:t>
            </a:r>
            <a:endParaRPr>
              <a:latin typeface="Times New Roman"/>
              <a:ea typeface="Times New Roman"/>
              <a:cs typeface="Times New Roman"/>
              <a:sym typeface="Times New Roman"/>
            </a:endParaRPr>
          </a:p>
          <a:p>
            <a:pPr indent="0" lvl="0" marL="0" rtl="0" algn="l">
              <a:spcBef>
                <a:spcPts val="1600"/>
              </a:spcBef>
              <a:spcAft>
                <a:spcPts val="0"/>
              </a:spcAft>
              <a:buNone/>
            </a:pPr>
            <a:r>
              <a:rPr lang="en">
                <a:latin typeface="Times New Roman"/>
                <a:ea typeface="Times New Roman"/>
                <a:cs typeface="Times New Roman"/>
                <a:sym typeface="Times New Roman"/>
              </a:rPr>
              <a:t>To our knowledge, no prior work has used GeoFM embeddings as conditioning for climate downscaling.</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31" name="Google Shape;331;p40"/>
          <p:cNvSpPr txBox="1"/>
          <p:nvPr/>
        </p:nvSpPr>
        <p:spPr>
          <a:xfrm>
            <a:off x="483000" y="4821625"/>
            <a:ext cx="8178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Times New Roman"/>
                <a:ea typeface="Times New Roman"/>
                <a:cs typeface="Times New Roman"/>
                <a:sym typeface="Times New Roman"/>
              </a:rPr>
              <a:t>1. Ignacio Lopez-Gomez, Zhong Yi Wan, Leonardo Zepeda-Núñez, Tapio Schneider, John Anderson, and Fei Sha. Dynamical-generative downscaling of climate model ensembles. Proceedings of the National Academy of Sciences, 122(17):e2420288122, 2025.</a:t>
            </a:r>
            <a:endParaRPr sz="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500">
                <a:solidFill>
                  <a:schemeClr val="dk1"/>
                </a:solidFill>
                <a:latin typeface="Times New Roman"/>
                <a:ea typeface="Times New Roman"/>
                <a:cs typeface="Times New Roman"/>
                <a:sym typeface="Times New Roman"/>
              </a:rPr>
              <a:t>2. Morteza Mardani, Noah Brenowitz, Yair Cohen, Jaideep Pathak, Chieh-Yu Chen, Cheng-Chin Liu, Arash Vahdat, Mohammad Amin Nabian, Tao Ge, Akshay Subramaniam, Karthik Kashinath, Jan Kautz, and Mike Pritchard. Residual corrective diffusion modeling for km-scale atmospheric downscaling, 2024.</a:t>
            </a:r>
            <a:endParaRPr sz="500">
              <a:solidFill>
                <a:schemeClr val="dk1"/>
              </a:solidFill>
              <a:latin typeface="Times New Roman"/>
              <a:ea typeface="Times New Roman"/>
              <a:cs typeface="Times New Roman"/>
              <a:sym typeface="Times New Roman"/>
            </a:endParaRPr>
          </a:p>
        </p:txBody>
      </p:sp>
      <p:pic>
        <p:nvPicPr>
          <p:cNvPr id="332" name="Google Shape;332;p40"/>
          <p:cNvPicPr preferRelativeResize="0"/>
          <p:nvPr/>
        </p:nvPicPr>
        <p:blipFill>
          <a:blip r:embed="rId3">
            <a:alphaModFix/>
          </a:blip>
          <a:stretch>
            <a:fillRect/>
          </a:stretch>
        </p:blipFill>
        <p:spPr>
          <a:xfrm>
            <a:off x="713225" y="3132312"/>
            <a:ext cx="3981649" cy="12118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6" name="Shape 336"/>
        <p:cNvGrpSpPr/>
        <p:nvPr/>
      </p:nvGrpSpPr>
      <p:grpSpPr>
        <a:xfrm>
          <a:off x="0" y="0"/>
          <a:ext cx="0" cy="0"/>
          <a:chOff x="0" y="0"/>
          <a:chExt cx="0" cy="0"/>
        </a:xfrm>
      </p:grpSpPr>
      <p:sp>
        <p:nvSpPr>
          <p:cNvPr id="337" name="Google Shape;337;p4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Related Works</a:t>
            </a:r>
            <a:endParaRPr>
              <a:latin typeface="Times New Roman"/>
              <a:ea typeface="Times New Roman"/>
              <a:cs typeface="Times New Roman"/>
              <a:sym typeface="Times New Roman"/>
            </a:endParaRPr>
          </a:p>
        </p:txBody>
      </p:sp>
      <p:pic>
        <p:nvPicPr>
          <p:cNvPr id="338" name="Google Shape;338;p41"/>
          <p:cNvPicPr preferRelativeResize="0"/>
          <p:nvPr/>
        </p:nvPicPr>
        <p:blipFill>
          <a:blip r:embed="rId3">
            <a:alphaModFix/>
          </a:blip>
          <a:stretch>
            <a:fillRect/>
          </a:stretch>
        </p:blipFill>
        <p:spPr>
          <a:xfrm>
            <a:off x="412475" y="1266812"/>
            <a:ext cx="3981649" cy="1211813"/>
          </a:xfrm>
          <a:prstGeom prst="rect">
            <a:avLst/>
          </a:prstGeom>
          <a:noFill/>
          <a:ln>
            <a:noFill/>
          </a:ln>
        </p:spPr>
      </p:pic>
      <p:pic>
        <p:nvPicPr>
          <p:cNvPr id="339" name="Google Shape;339;p41"/>
          <p:cNvPicPr preferRelativeResize="0"/>
          <p:nvPr/>
        </p:nvPicPr>
        <p:blipFill>
          <a:blip r:embed="rId4">
            <a:alphaModFix/>
          </a:blip>
          <a:stretch>
            <a:fillRect/>
          </a:stretch>
        </p:blipFill>
        <p:spPr>
          <a:xfrm>
            <a:off x="412475" y="2724875"/>
            <a:ext cx="3981649" cy="2010625"/>
          </a:xfrm>
          <a:prstGeom prst="rect">
            <a:avLst/>
          </a:prstGeom>
          <a:noFill/>
          <a:ln>
            <a:noFill/>
          </a:ln>
        </p:spPr>
      </p:pic>
      <p:sp>
        <p:nvSpPr>
          <p:cNvPr id="340" name="Google Shape;340;p41"/>
          <p:cNvSpPr txBox="1"/>
          <p:nvPr/>
        </p:nvSpPr>
        <p:spPr>
          <a:xfrm>
            <a:off x="4702350" y="1564250"/>
            <a:ext cx="4457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R2-D2</a:t>
            </a:r>
            <a:r>
              <a:rPr baseline="30000" lang="en">
                <a:solidFill>
                  <a:schemeClr val="dk1"/>
                </a:solidFill>
                <a:latin typeface="Times New Roman"/>
                <a:ea typeface="Times New Roman"/>
                <a:cs typeface="Times New Roman"/>
                <a:sym typeface="Times New Roman"/>
              </a:rPr>
              <a:t>1</a:t>
            </a:r>
            <a:r>
              <a:rPr lang="en">
                <a:solidFill>
                  <a:schemeClr val="dk1"/>
                </a:solidFill>
                <a:latin typeface="Times New Roman"/>
                <a:ea typeface="Times New Roman"/>
                <a:cs typeface="Times New Roman"/>
                <a:sym typeface="Times New Roman"/>
              </a:rPr>
              <a:t>:  Uses RCM as intermediate generation step and c</a:t>
            </a:r>
            <a:r>
              <a:rPr lang="en">
                <a:solidFill>
                  <a:schemeClr val="dk1"/>
                </a:solidFill>
                <a:latin typeface="Times New Roman"/>
                <a:ea typeface="Times New Roman"/>
                <a:cs typeface="Times New Roman"/>
                <a:sym typeface="Times New Roman"/>
              </a:rPr>
              <a:t>onditions on terrain height and sub-grid orographic variance - our approach generalizes this by using the AEF embedding as terrain conditioning.</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p:txBody>
      </p:sp>
      <p:sp>
        <p:nvSpPr>
          <p:cNvPr id="341" name="Google Shape;341;p41"/>
          <p:cNvSpPr txBox="1"/>
          <p:nvPr/>
        </p:nvSpPr>
        <p:spPr>
          <a:xfrm>
            <a:off x="483000" y="4821625"/>
            <a:ext cx="8178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Times New Roman"/>
                <a:ea typeface="Times New Roman"/>
                <a:cs typeface="Times New Roman"/>
                <a:sym typeface="Times New Roman"/>
              </a:rPr>
              <a:t>1. </a:t>
            </a:r>
            <a:r>
              <a:rPr lang="en" sz="500">
                <a:solidFill>
                  <a:schemeClr val="dk1"/>
                </a:solidFill>
                <a:latin typeface="Times New Roman"/>
                <a:ea typeface="Times New Roman"/>
                <a:cs typeface="Times New Roman"/>
                <a:sym typeface="Times New Roman"/>
              </a:rPr>
              <a:t>Ignacio Lopez-Gomez, Zhong Yi Wan, Leonardo Zepeda-Núñez, Tapio Schneider, John Anderson, and Fei Sha. Dynamical-generative downscaling of climate model ensembles. Proceedings of the National Academy of Sciences, 122(17):e2420288122, 2025.</a:t>
            </a:r>
            <a:endParaRPr sz="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500">
                <a:solidFill>
                  <a:schemeClr val="dk1"/>
                </a:solidFill>
                <a:latin typeface="Times New Roman"/>
                <a:ea typeface="Times New Roman"/>
                <a:cs typeface="Times New Roman"/>
                <a:sym typeface="Times New Roman"/>
              </a:rPr>
              <a:t>2. Morteza Mardani, Noah Brenowitz, Yair Cohen, Jaideep Pathak, Chieh-Yu Chen, Cheng-Chin Liu, Arash Vahdat, Mohammad Amin Nabian, Tao Ge, Akshay Subramaniam, Karthik Kashinath, Jan Kautz, and Mike Pritchard. Residual corrective diffusion modeling for km-scale atmospheric downscaling, 2024.</a:t>
            </a:r>
            <a:endParaRPr sz="500">
              <a:solidFill>
                <a:schemeClr val="dk1"/>
              </a:solidFill>
              <a:latin typeface="Times New Roman"/>
              <a:ea typeface="Times New Roman"/>
              <a:cs typeface="Times New Roman"/>
              <a:sym typeface="Times New Roman"/>
            </a:endParaRPr>
          </a:p>
        </p:txBody>
      </p:sp>
      <p:sp>
        <p:nvSpPr>
          <p:cNvPr id="342" name="Google Shape;342;p41"/>
          <p:cNvSpPr txBox="1"/>
          <p:nvPr/>
        </p:nvSpPr>
        <p:spPr>
          <a:xfrm>
            <a:off x="4702350" y="2724875"/>
            <a:ext cx="4457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CorrDiff</a:t>
            </a:r>
            <a:r>
              <a:rPr baseline="30000" lang="en">
                <a:solidFill>
                  <a:schemeClr val="dk1"/>
                </a:solidFill>
                <a:latin typeface="Times New Roman"/>
                <a:ea typeface="Times New Roman"/>
                <a:cs typeface="Times New Roman"/>
                <a:sym typeface="Times New Roman"/>
              </a:rPr>
              <a:t>2</a:t>
            </a:r>
            <a:r>
              <a:rPr lang="en">
                <a:solidFill>
                  <a:schemeClr val="dk1"/>
                </a:solidFill>
                <a:latin typeface="Times New Roman"/>
                <a:ea typeface="Times New Roman"/>
                <a:cs typeface="Times New Roman"/>
                <a:sym typeface="Times New Roman"/>
              </a:rPr>
              <a:t>:  Trains diffusion model (</a:t>
            </a:r>
            <a:r>
              <a:rPr lang="en">
                <a:solidFill>
                  <a:schemeClr val="dk1"/>
                </a:solidFill>
                <a:latin typeface="Times New Roman"/>
                <a:ea typeface="Times New Roman"/>
                <a:cs typeface="Times New Roman"/>
                <a:sym typeface="Times New Roman"/>
              </a:rPr>
              <a:t>probabilistic</a:t>
            </a:r>
            <a:r>
              <a:rPr lang="en">
                <a:solidFill>
                  <a:schemeClr val="dk1"/>
                </a:solidFill>
                <a:latin typeface="Times New Roman"/>
                <a:ea typeface="Times New Roman"/>
                <a:cs typeface="Times New Roman"/>
                <a:sym typeface="Times New Roman"/>
              </a:rPr>
              <a:t>) but uses no terrain conditioning. Both dataset and model are much larger and achieve good results, but can AEF embeddings provide rich-enough information to reduce the needed training environment?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2"/>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Project Abstract</a:t>
            </a:r>
            <a:endParaRPr>
              <a:latin typeface="Times New Roman"/>
              <a:ea typeface="Times New Roman"/>
              <a:cs typeface="Times New Roman"/>
              <a:sym typeface="Times New Roman"/>
            </a:endParaRPr>
          </a:p>
        </p:txBody>
      </p:sp>
      <p:sp>
        <p:nvSpPr>
          <p:cNvPr id="348" name="Google Shape;348;p42"/>
          <p:cNvSpPr txBox="1"/>
          <p:nvPr>
            <p:ph idx="1" type="subTitle"/>
          </p:nvPr>
        </p:nvSpPr>
        <p:spPr>
          <a:xfrm>
            <a:off x="1106875" y="1628250"/>
            <a:ext cx="6781800" cy="188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We</a:t>
            </a:r>
            <a:r>
              <a:rPr lang="en">
                <a:latin typeface="Times New Roman"/>
                <a:ea typeface="Times New Roman"/>
                <a:cs typeface="Times New Roman"/>
                <a:sym typeface="Times New Roman"/>
              </a:rPr>
              <a:t> propose a framework for probabilistic precipitation downscaling from 25 km ERA5 data to 1.5 km resolution over Illinois, conditioned on AEF embeddings as terrain-aware covariates. Our approach recursively applies a learned 2x super-resolution operator, generating 100-member ensembles via noise injection. We establish baselines using bicubic interpolation and XGBoost (with and without AEF conditioning), validate against 800 m PRISM observations.</a:t>
            </a:r>
            <a:endParaRPr>
              <a:latin typeface="Times New Roman"/>
              <a:ea typeface="Times New Roman"/>
              <a:cs typeface="Times New Roman"/>
              <a:sym typeface="Times New Roman"/>
            </a:endParaRPr>
          </a:p>
        </p:txBody>
      </p:sp>
      <p:pic>
        <p:nvPicPr>
          <p:cNvPr id="349" name="Google Shape;349;p42"/>
          <p:cNvPicPr preferRelativeResize="0"/>
          <p:nvPr/>
        </p:nvPicPr>
        <p:blipFill>
          <a:blip r:embed="rId3">
            <a:alphaModFix/>
          </a:blip>
          <a:stretch>
            <a:fillRect/>
          </a:stretch>
        </p:blipFill>
        <p:spPr>
          <a:xfrm>
            <a:off x="713225" y="297125"/>
            <a:ext cx="1355300" cy="1331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grpSp>
        <p:nvGrpSpPr>
          <p:cNvPr id="354" name="Google Shape;354;p43"/>
          <p:cNvGrpSpPr/>
          <p:nvPr/>
        </p:nvGrpSpPr>
        <p:grpSpPr>
          <a:xfrm>
            <a:off x="6670200" y="0"/>
            <a:ext cx="2473800" cy="4131000"/>
            <a:chOff x="6670200" y="0"/>
            <a:chExt cx="2473800" cy="4131000"/>
          </a:xfrm>
        </p:grpSpPr>
        <p:sp>
          <p:nvSpPr>
            <p:cNvPr id="355" name="Google Shape;355;p43"/>
            <p:cNvSpPr/>
            <p:nvPr/>
          </p:nvSpPr>
          <p:spPr>
            <a:xfrm flipH="1">
              <a:off x="667020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6" name="Google Shape;356;p43"/>
            <p:cNvCxnSpPr/>
            <p:nvPr/>
          </p:nvCxnSpPr>
          <p:spPr>
            <a:xfrm rot="10800000">
              <a:off x="84327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357" name="Google Shape;357;p43"/>
          <p:cNvSpPr txBox="1"/>
          <p:nvPr>
            <p:ph type="title"/>
          </p:nvPr>
        </p:nvSpPr>
        <p:spPr>
          <a:xfrm flipH="1">
            <a:off x="2052825" y="2036300"/>
            <a:ext cx="5579100" cy="1477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latin typeface="Times New Roman"/>
                <a:ea typeface="Times New Roman"/>
                <a:cs typeface="Times New Roman"/>
                <a:sym typeface="Times New Roman"/>
              </a:rPr>
              <a:t>Data and </a:t>
            </a:r>
            <a:endParaRPr>
              <a:latin typeface="Times New Roman"/>
              <a:ea typeface="Times New Roman"/>
              <a:cs typeface="Times New Roman"/>
              <a:sym typeface="Times New Roman"/>
            </a:endParaRPr>
          </a:p>
          <a:p>
            <a:pPr indent="0" lvl="0" marL="0" rtl="0" algn="r">
              <a:spcBef>
                <a:spcPts val="0"/>
              </a:spcBef>
              <a:spcAft>
                <a:spcPts val="0"/>
              </a:spcAft>
              <a:buNone/>
            </a:pPr>
            <a:r>
              <a:rPr lang="en">
                <a:latin typeface="Times New Roman"/>
                <a:ea typeface="Times New Roman"/>
                <a:cs typeface="Times New Roman"/>
                <a:sym typeface="Times New Roman"/>
              </a:rPr>
              <a:t>Models</a:t>
            </a:r>
            <a:endParaRPr>
              <a:latin typeface="Times New Roman"/>
              <a:ea typeface="Times New Roman"/>
              <a:cs typeface="Times New Roman"/>
              <a:sym typeface="Times New Roman"/>
            </a:endParaRPr>
          </a:p>
        </p:txBody>
      </p:sp>
      <p:sp>
        <p:nvSpPr>
          <p:cNvPr id="358" name="Google Shape;358;p43"/>
          <p:cNvSpPr txBox="1"/>
          <p:nvPr>
            <p:ph idx="2" type="title"/>
          </p:nvPr>
        </p:nvSpPr>
        <p:spPr>
          <a:xfrm flipH="1">
            <a:off x="6555825" y="1012500"/>
            <a:ext cx="1076100" cy="87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Times New Roman"/>
                <a:ea typeface="Times New Roman"/>
                <a:cs typeface="Times New Roman"/>
                <a:sym typeface="Times New Roman"/>
              </a:rPr>
              <a:t>02</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4"/>
          <p:cNvSpPr/>
          <p:nvPr/>
        </p:nvSpPr>
        <p:spPr>
          <a:xfrm>
            <a:off x="0" y="1120675"/>
            <a:ext cx="9144000" cy="10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4"/>
          <p:cNvSpPr txBox="1"/>
          <p:nvPr>
            <p:ph idx="1" type="subTitle"/>
          </p:nvPr>
        </p:nvSpPr>
        <p:spPr>
          <a:xfrm>
            <a:off x="713225" y="2304424"/>
            <a:ext cx="2400300" cy="1469700"/>
          </a:xfrm>
          <a:prstGeom prst="rect">
            <a:avLst/>
          </a:prstGeom>
        </p:spPr>
        <p:txBody>
          <a:bodyPr anchorCtr="0" anchor="t" bIns="91425" lIns="91425" spcFirstLastPara="1" rIns="91425" wrap="square" tIns="91425">
            <a:noAutofit/>
          </a:bodyPr>
          <a:lstStyle/>
          <a:p>
            <a:pPr indent="-203200" lvl="0" marL="171450" rtl="0" algn="l">
              <a:spcBef>
                <a:spcPts val="0"/>
              </a:spcBef>
              <a:spcAft>
                <a:spcPts val="0"/>
              </a:spcAft>
              <a:buSzPts val="1400"/>
              <a:buFont typeface="Times New Roman"/>
              <a:buChar char="-"/>
            </a:pPr>
            <a:r>
              <a:rPr lang="en">
                <a:latin typeface="Times New Roman"/>
                <a:ea typeface="Times New Roman"/>
                <a:cs typeface="Times New Roman"/>
                <a:sym typeface="Times New Roman"/>
              </a:rPr>
              <a:t>Temporal resolution:</a:t>
            </a:r>
            <a:endParaRPr>
              <a:latin typeface="Times New Roman"/>
              <a:ea typeface="Times New Roman"/>
              <a:cs typeface="Times New Roman"/>
              <a:sym typeface="Times New Roman"/>
            </a:endParaRPr>
          </a:p>
          <a:p>
            <a:pPr indent="-203200" lvl="1" marL="342900" rtl="0" algn="l">
              <a:spcBef>
                <a:spcPts val="0"/>
              </a:spcBef>
              <a:spcAft>
                <a:spcPts val="0"/>
              </a:spcAft>
              <a:buSzPts val="1400"/>
              <a:buFont typeface="Times New Roman"/>
              <a:buChar char="-"/>
            </a:pPr>
            <a:r>
              <a:rPr lang="en">
                <a:latin typeface="Times New Roman"/>
                <a:ea typeface="Times New Roman"/>
                <a:cs typeface="Times New Roman"/>
                <a:sym typeface="Times New Roman"/>
              </a:rPr>
              <a:t>Annual</a:t>
            </a:r>
            <a:endParaRPr>
              <a:latin typeface="Times New Roman"/>
              <a:ea typeface="Times New Roman"/>
              <a:cs typeface="Times New Roman"/>
              <a:sym typeface="Times New Roman"/>
            </a:endParaRPr>
          </a:p>
          <a:p>
            <a:pPr indent="-203200" lvl="0" marL="171450" rtl="0" algn="l">
              <a:spcBef>
                <a:spcPts val="0"/>
              </a:spcBef>
              <a:spcAft>
                <a:spcPts val="0"/>
              </a:spcAft>
              <a:buSzPts val="1400"/>
              <a:buFont typeface="Times New Roman"/>
              <a:buChar char="-"/>
            </a:pPr>
            <a:r>
              <a:rPr lang="en">
                <a:latin typeface="Times New Roman"/>
                <a:ea typeface="Times New Roman"/>
                <a:cs typeface="Times New Roman"/>
                <a:sym typeface="Times New Roman"/>
              </a:rPr>
              <a:t>Spatial </a:t>
            </a:r>
            <a:r>
              <a:rPr lang="en">
                <a:latin typeface="Times New Roman"/>
                <a:ea typeface="Times New Roman"/>
                <a:cs typeface="Times New Roman"/>
                <a:sym typeface="Times New Roman"/>
              </a:rPr>
              <a:t>resolution</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203200" lvl="0" marL="342900" rtl="0" algn="l">
              <a:spcBef>
                <a:spcPts val="0"/>
              </a:spcBef>
              <a:spcAft>
                <a:spcPts val="0"/>
              </a:spcAft>
              <a:buSzPts val="1400"/>
              <a:buFont typeface="Times New Roman"/>
              <a:buChar char="-"/>
            </a:pPr>
            <a:r>
              <a:rPr lang="en">
                <a:latin typeface="Times New Roman"/>
                <a:ea typeface="Times New Roman"/>
                <a:cs typeface="Times New Roman"/>
                <a:sym typeface="Times New Roman"/>
              </a:rPr>
              <a:t>10 meter</a:t>
            </a:r>
            <a:endParaRPr>
              <a:latin typeface="Times New Roman"/>
              <a:ea typeface="Times New Roman"/>
              <a:cs typeface="Times New Roman"/>
              <a:sym typeface="Times New Roman"/>
            </a:endParaRPr>
          </a:p>
        </p:txBody>
      </p:sp>
      <p:sp>
        <p:nvSpPr>
          <p:cNvPr id="365" name="Google Shape;365;p44"/>
          <p:cNvSpPr txBox="1"/>
          <p:nvPr>
            <p:ph idx="2" type="subTitle"/>
          </p:nvPr>
        </p:nvSpPr>
        <p:spPr>
          <a:xfrm>
            <a:off x="562775" y="1513314"/>
            <a:ext cx="2400300" cy="554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AlphaEarth </a:t>
            </a:r>
            <a:r>
              <a:rPr lang="en">
                <a:latin typeface="Times New Roman"/>
                <a:ea typeface="Times New Roman"/>
                <a:cs typeface="Times New Roman"/>
                <a:sym typeface="Times New Roman"/>
              </a:rPr>
              <a:t>Embedding (AEF)</a:t>
            </a:r>
            <a:endParaRPr>
              <a:latin typeface="Times New Roman"/>
              <a:ea typeface="Times New Roman"/>
              <a:cs typeface="Times New Roman"/>
              <a:sym typeface="Times New Roman"/>
            </a:endParaRPr>
          </a:p>
        </p:txBody>
      </p:sp>
      <p:sp>
        <p:nvSpPr>
          <p:cNvPr id="366" name="Google Shape;366;p44"/>
          <p:cNvSpPr txBox="1"/>
          <p:nvPr>
            <p:ph idx="3" type="subTitle"/>
          </p:nvPr>
        </p:nvSpPr>
        <p:spPr>
          <a:xfrm>
            <a:off x="6200835" y="2304427"/>
            <a:ext cx="2400300" cy="895800"/>
          </a:xfrm>
          <a:prstGeom prst="rect">
            <a:avLst/>
          </a:prstGeom>
        </p:spPr>
        <p:txBody>
          <a:bodyPr anchorCtr="0" anchor="t" bIns="91425" lIns="91425" spcFirstLastPara="1" rIns="91425" wrap="square" tIns="91425">
            <a:noAutofit/>
          </a:bodyPr>
          <a:lstStyle/>
          <a:p>
            <a:pPr indent="-203200" lvl="0" marL="171450" rtl="0" algn="l">
              <a:spcBef>
                <a:spcPts val="0"/>
              </a:spcBef>
              <a:spcAft>
                <a:spcPts val="0"/>
              </a:spcAft>
              <a:buSzPts val="1400"/>
              <a:buFont typeface="Times New Roman"/>
              <a:buChar char="-"/>
            </a:pPr>
            <a:r>
              <a:rPr lang="en">
                <a:latin typeface="Times New Roman"/>
                <a:ea typeface="Times New Roman"/>
                <a:cs typeface="Times New Roman"/>
                <a:sym typeface="Times New Roman"/>
              </a:rPr>
              <a:t>Temporal resolution:</a:t>
            </a:r>
            <a:endParaRPr>
              <a:latin typeface="Times New Roman"/>
              <a:ea typeface="Times New Roman"/>
              <a:cs typeface="Times New Roman"/>
              <a:sym typeface="Times New Roman"/>
            </a:endParaRPr>
          </a:p>
          <a:p>
            <a:pPr indent="-203200" lvl="1" marL="342900" rtl="0" algn="l">
              <a:spcBef>
                <a:spcPts val="0"/>
              </a:spcBef>
              <a:spcAft>
                <a:spcPts val="0"/>
              </a:spcAft>
              <a:buSzPts val="1400"/>
              <a:buFont typeface="Times New Roman"/>
              <a:buChar char="-"/>
            </a:pPr>
            <a:r>
              <a:rPr lang="en">
                <a:latin typeface="Times New Roman"/>
                <a:ea typeface="Times New Roman"/>
                <a:cs typeface="Times New Roman"/>
                <a:sym typeface="Times New Roman"/>
              </a:rPr>
              <a:t>Daily</a:t>
            </a:r>
            <a:endParaRPr>
              <a:latin typeface="Times New Roman"/>
              <a:ea typeface="Times New Roman"/>
              <a:cs typeface="Times New Roman"/>
              <a:sym typeface="Times New Roman"/>
            </a:endParaRPr>
          </a:p>
          <a:p>
            <a:pPr indent="-203200" lvl="0" marL="171450" rtl="0" algn="l">
              <a:spcBef>
                <a:spcPts val="0"/>
              </a:spcBef>
              <a:spcAft>
                <a:spcPts val="0"/>
              </a:spcAft>
              <a:buSzPts val="1400"/>
              <a:buFont typeface="Times New Roman"/>
              <a:buChar char="-"/>
            </a:pPr>
            <a:r>
              <a:rPr lang="en">
                <a:latin typeface="Times New Roman"/>
                <a:ea typeface="Times New Roman"/>
                <a:cs typeface="Times New Roman"/>
                <a:sym typeface="Times New Roman"/>
              </a:rPr>
              <a:t>Spatial resolution:</a:t>
            </a:r>
            <a:endParaRPr>
              <a:latin typeface="Times New Roman"/>
              <a:ea typeface="Times New Roman"/>
              <a:cs typeface="Times New Roman"/>
              <a:sym typeface="Times New Roman"/>
            </a:endParaRPr>
          </a:p>
          <a:p>
            <a:pPr indent="-203200" lvl="0" marL="342900" rtl="0" algn="l">
              <a:spcBef>
                <a:spcPts val="0"/>
              </a:spcBef>
              <a:spcAft>
                <a:spcPts val="0"/>
              </a:spcAft>
              <a:buSzPts val="1400"/>
              <a:buFont typeface="Times New Roman"/>
              <a:buChar char="-"/>
            </a:pPr>
            <a:r>
              <a:rPr lang="en">
                <a:latin typeface="Times New Roman"/>
                <a:ea typeface="Times New Roman"/>
                <a:cs typeface="Times New Roman"/>
                <a:sym typeface="Times New Roman"/>
              </a:rPr>
              <a:t>800 meter</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367" name="Google Shape;367;p44"/>
          <p:cNvSpPr txBox="1"/>
          <p:nvPr>
            <p:ph idx="4" type="subTitle"/>
          </p:nvPr>
        </p:nvSpPr>
        <p:spPr>
          <a:xfrm>
            <a:off x="5950189" y="1313317"/>
            <a:ext cx="2400300" cy="554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PRISM</a:t>
            </a:r>
            <a:endParaRPr>
              <a:latin typeface="Times New Roman"/>
              <a:ea typeface="Times New Roman"/>
              <a:cs typeface="Times New Roman"/>
              <a:sym typeface="Times New Roman"/>
            </a:endParaRPr>
          </a:p>
        </p:txBody>
      </p:sp>
      <p:grpSp>
        <p:nvGrpSpPr>
          <p:cNvPr id="368" name="Google Shape;368;p44"/>
          <p:cNvGrpSpPr/>
          <p:nvPr/>
        </p:nvGrpSpPr>
        <p:grpSpPr>
          <a:xfrm>
            <a:off x="281700" y="-7000"/>
            <a:ext cx="8720225" cy="5174775"/>
            <a:chOff x="281700" y="299950"/>
            <a:chExt cx="8720225" cy="5174775"/>
          </a:xfrm>
        </p:grpSpPr>
        <p:cxnSp>
          <p:nvCxnSpPr>
            <p:cNvPr id="369" name="Google Shape;369;p44"/>
            <p:cNvCxnSpPr/>
            <p:nvPr/>
          </p:nvCxnSpPr>
          <p:spPr>
            <a:xfrm flipH="1" rot="10800000">
              <a:off x="8998325" y="1642225"/>
              <a:ext cx="3600" cy="3832500"/>
            </a:xfrm>
            <a:prstGeom prst="straightConnector1">
              <a:avLst/>
            </a:prstGeom>
            <a:noFill/>
            <a:ln cap="flat" cmpd="sng" w="9525">
              <a:solidFill>
                <a:schemeClr val="dk1"/>
              </a:solidFill>
              <a:prstDash val="solid"/>
              <a:round/>
              <a:headEnd len="med" w="med" type="none"/>
              <a:tailEnd len="med" w="med" type="none"/>
            </a:ln>
          </p:spPr>
        </p:cxnSp>
        <p:cxnSp>
          <p:nvCxnSpPr>
            <p:cNvPr id="370" name="Google Shape;370;p44"/>
            <p:cNvCxnSpPr/>
            <p:nvPr/>
          </p:nvCxnSpPr>
          <p:spPr>
            <a:xfrm rot="10800000">
              <a:off x="281700" y="299950"/>
              <a:ext cx="2100" cy="2331600"/>
            </a:xfrm>
            <a:prstGeom prst="straightConnector1">
              <a:avLst/>
            </a:prstGeom>
            <a:noFill/>
            <a:ln cap="flat" cmpd="sng" w="9525">
              <a:solidFill>
                <a:schemeClr val="dk1"/>
              </a:solidFill>
              <a:prstDash val="solid"/>
              <a:round/>
              <a:headEnd len="med" w="med" type="none"/>
              <a:tailEnd len="med" w="med" type="none"/>
            </a:ln>
          </p:spPr>
        </p:cxnSp>
      </p:grpSp>
      <p:sp>
        <p:nvSpPr>
          <p:cNvPr id="371" name="Google Shape;371;p44"/>
          <p:cNvSpPr txBox="1"/>
          <p:nvPr>
            <p:ph idx="6" type="subTitle"/>
          </p:nvPr>
        </p:nvSpPr>
        <p:spPr>
          <a:xfrm>
            <a:off x="2861763" y="1316975"/>
            <a:ext cx="3137700" cy="554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ERA5</a:t>
            </a:r>
            <a:endParaRPr>
              <a:latin typeface="Times New Roman"/>
              <a:ea typeface="Times New Roman"/>
              <a:cs typeface="Times New Roman"/>
              <a:sym typeface="Times New Roman"/>
            </a:endParaRPr>
          </a:p>
        </p:txBody>
      </p:sp>
      <p:sp>
        <p:nvSpPr>
          <p:cNvPr id="372" name="Google Shape;372;p44"/>
          <p:cNvSpPr txBox="1"/>
          <p:nvPr>
            <p:ph idx="3" type="subTitle"/>
          </p:nvPr>
        </p:nvSpPr>
        <p:spPr>
          <a:xfrm>
            <a:off x="3482238" y="2247897"/>
            <a:ext cx="2400300" cy="2147700"/>
          </a:xfrm>
          <a:prstGeom prst="rect">
            <a:avLst/>
          </a:prstGeom>
        </p:spPr>
        <p:txBody>
          <a:bodyPr anchorCtr="0" anchor="t" bIns="91425" lIns="91425" spcFirstLastPara="1" rIns="91425" wrap="square" tIns="91425">
            <a:noAutofit/>
          </a:bodyPr>
          <a:lstStyle/>
          <a:p>
            <a:pPr indent="-203200" lvl="0" marL="171450" rtl="0" algn="l">
              <a:spcBef>
                <a:spcPts val="0"/>
              </a:spcBef>
              <a:spcAft>
                <a:spcPts val="0"/>
              </a:spcAft>
              <a:buSzPts val="1400"/>
              <a:buFont typeface="Times New Roman"/>
              <a:buChar char="-"/>
            </a:pPr>
            <a:r>
              <a:rPr lang="en">
                <a:latin typeface="Times New Roman"/>
                <a:ea typeface="Times New Roman"/>
                <a:cs typeface="Times New Roman"/>
                <a:sym typeface="Times New Roman"/>
              </a:rPr>
              <a:t>Temporal </a:t>
            </a:r>
            <a:r>
              <a:rPr lang="en">
                <a:latin typeface="Times New Roman"/>
                <a:ea typeface="Times New Roman"/>
                <a:cs typeface="Times New Roman"/>
                <a:sym typeface="Times New Roman"/>
              </a:rPr>
              <a:t>resolution:</a:t>
            </a:r>
            <a:endParaRPr>
              <a:latin typeface="Times New Roman"/>
              <a:ea typeface="Times New Roman"/>
              <a:cs typeface="Times New Roman"/>
              <a:sym typeface="Times New Roman"/>
            </a:endParaRPr>
          </a:p>
          <a:p>
            <a:pPr indent="-203200" lvl="1" marL="342900" rtl="0" algn="l">
              <a:spcBef>
                <a:spcPts val="0"/>
              </a:spcBef>
              <a:spcAft>
                <a:spcPts val="0"/>
              </a:spcAft>
              <a:buSzPts val="1400"/>
              <a:buFont typeface="Times New Roman"/>
              <a:buChar char="-"/>
            </a:pPr>
            <a:r>
              <a:rPr lang="en">
                <a:latin typeface="Times New Roman"/>
                <a:ea typeface="Times New Roman"/>
                <a:cs typeface="Times New Roman"/>
                <a:sym typeface="Times New Roman"/>
              </a:rPr>
              <a:t>Hourly</a:t>
            </a:r>
            <a:endParaRPr>
              <a:latin typeface="Times New Roman"/>
              <a:ea typeface="Times New Roman"/>
              <a:cs typeface="Times New Roman"/>
              <a:sym typeface="Times New Roman"/>
            </a:endParaRPr>
          </a:p>
          <a:p>
            <a:pPr indent="-203200" lvl="0" marL="171450" rtl="0" algn="l">
              <a:spcBef>
                <a:spcPts val="0"/>
              </a:spcBef>
              <a:spcAft>
                <a:spcPts val="0"/>
              </a:spcAft>
              <a:buSzPts val="1400"/>
              <a:buFont typeface="Times New Roman"/>
              <a:buChar char="-"/>
            </a:pPr>
            <a:r>
              <a:rPr lang="en">
                <a:latin typeface="Times New Roman"/>
                <a:ea typeface="Times New Roman"/>
                <a:cs typeface="Times New Roman"/>
                <a:sym typeface="Times New Roman"/>
              </a:rPr>
              <a:t>Spatial resolution:</a:t>
            </a:r>
            <a:endParaRPr>
              <a:latin typeface="Times New Roman"/>
              <a:ea typeface="Times New Roman"/>
              <a:cs typeface="Times New Roman"/>
              <a:sym typeface="Times New Roman"/>
            </a:endParaRPr>
          </a:p>
          <a:p>
            <a:pPr indent="-203200" lvl="0" marL="342900" rtl="0" algn="l">
              <a:spcBef>
                <a:spcPts val="0"/>
              </a:spcBef>
              <a:spcAft>
                <a:spcPts val="0"/>
              </a:spcAft>
              <a:buSzPts val="1400"/>
              <a:buFont typeface="Times New Roman"/>
              <a:buChar char="-"/>
            </a:pPr>
            <a:r>
              <a:rPr lang="en">
                <a:latin typeface="Times New Roman"/>
                <a:ea typeface="Times New Roman"/>
                <a:cs typeface="Times New Roman"/>
                <a:sym typeface="Times New Roman"/>
              </a:rPr>
              <a:t>25 km ERA5</a:t>
            </a:r>
            <a:endParaRPr>
              <a:latin typeface="Times New Roman"/>
              <a:ea typeface="Times New Roman"/>
              <a:cs typeface="Times New Roman"/>
              <a:sym typeface="Times New Roman"/>
            </a:endParaRPr>
          </a:p>
          <a:p>
            <a:pPr indent="-203200" lvl="0" marL="342900" rtl="0" algn="l">
              <a:spcBef>
                <a:spcPts val="0"/>
              </a:spcBef>
              <a:spcAft>
                <a:spcPts val="0"/>
              </a:spcAft>
              <a:buSzPts val="1400"/>
              <a:buFont typeface="Times New Roman"/>
              <a:buChar char="-"/>
            </a:pPr>
            <a:r>
              <a:rPr lang="en">
                <a:latin typeface="Times New Roman"/>
                <a:ea typeface="Times New Roman"/>
                <a:cs typeface="Times New Roman"/>
                <a:sym typeface="Times New Roman"/>
              </a:rPr>
              <a:t>9 km (ERA5-Land)</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73" name="Google Shape;373;p44"/>
          <p:cNvSpPr txBox="1"/>
          <p:nvPr>
            <p:ph type="title"/>
          </p:nvPr>
        </p:nvSpPr>
        <p:spPr>
          <a:xfrm>
            <a:off x="571875" y="420525"/>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Data</a:t>
            </a:r>
            <a:endParaRPr>
              <a:latin typeface="Times New Roman"/>
              <a:ea typeface="Times New Roman"/>
              <a:cs typeface="Times New Roman"/>
              <a:sym typeface="Times New Roman"/>
            </a:endParaRPr>
          </a:p>
        </p:txBody>
      </p:sp>
      <p:pic>
        <p:nvPicPr>
          <p:cNvPr id="374" name="Google Shape;374;p44"/>
          <p:cNvPicPr preferRelativeResize="0"/>
          <p:nvPr/>
        </p:nvPicPr>
        <p:blipFill rotWithShape="1">
          <a:blip r:embed="rId3">
            <a:alphaModFix/>
          </a:blip>
          <a:srcRect b="33090" l="5568" r="70670" t="34586"/>
          <a:stretch/>
        </p:blipFill>
        <p:spPr>
          <a:xfrm>
            <a:off x="647750" y="3573725"/>
            <a:ext cx="1798675" cy="1377001"/>
          </a:xfrm>
          <a:prstGeom prst="rect">
            <a:avLst/>
          </a:prstGeom>
          <a:noFill/>
          <a:ln>
            <a:noFill/>
          </a:ln>
        </p:spPr>
      </p:pic>
      <p:pic>
        <p:nvPicPr>
          <p:cNvPr id="375" name="Google Shape;375;p44"/>
          <p:cNvPicPr preferRelativeResize="0"/>
          <p:nvPr/>
        </p:nvPicPr>
        <p:blipFill rotWithShape="1">
          <a:blip r:embed="rId3">
            <a:alphaModFix/>
          </a:blip>
          <a:srcRect b="34854" l="34255" r="40989" t="34793"/>
          <a:stretch/>
        </p:blipFill>
        <p:spPr>
          <a:xfrm>
            <a:off x="3469525" y="3624425"/>
            <a:ext cx="1922186" cy="1326300"/>
          </a:xfrm>
          <a:prstGeom prst="rect">
            <a:avLst/>
          </a:prstGeom>
          <a:noFill/>
          <a:ln>
            <a:noFill/>
          </a:ln>
        </p:spPr>
      </p:pic>
      <p:pic>
        <p:nvPicPr>
          <p:cNvPr id="376" name="Google Shape;376;p44"/>
          <p:cNvPicPr preferRelativeResize="0"/>
          <p:nvPr/>
        </p:nvPicPr>
        <p:blipFill rotWithShape="1">
          <a:blip r:embed="rId3">
            <a:alphaModFix/>
          </a:blip>
          <a:srcRect b="32587" l="65450" r="5543" t="34953"/>
          <a:stretch/>
        </p:blipFill>
        <p:spPr>
          <a:xfrm>
            <a:off x="6097387" y="3637225"/>
            <a:ext cx="2105917" cy="1326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Data (cont.)</a:t>
            </a:r>
            <a:endParaRPr>
              <a:latin typeface="Times New Roman"/>
              <a:ea typeface="Times New Roman"/>
              <a:cs typeface="Times New Roman"/>
              <a:sym typeface="Times New Roman"/>
            </a:endParaRPr>
          </a:p>
        </p:txBody>
      </p:sp>
      <p:sp>
        <p:nvSpPr>
          <p:cNvPr id="382" name="Google Shape;382;p45"/>
          <p:cNvSpPr txBox="1"/>
          <p:nvPr>
            <p:ph idx="1" type="subTitle"/>
          </p:nvPr>
        </p:nvSpPr>
        <p:spPr>
          <a:xfrm>
            <a:off x="713250" y="1217050"/>
            <a:ext cx="5667900" cy="17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Data Scope:</a:t>
            </a:r>
            <a:endParaRPr sz="1500">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Spatial Range: 36.97-42.51 N, 91.51-87.50 W (Illinois bounding box)</a:t>
            </a:r>
            <a:endParaRPr sz="1500">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Temporal Range: </a:t>
            </a:r>
            <a:endParaRPr sz="1500">
              <a:latin typeface="Times New Roman"/>
              <a:ea typeface="Times New Roman"/>
              <a:cs typeface="Times New Roman"/>
              <a:sym typeface="Times New Roman"/>
            </a:endParaRPr>
          </a:p>
          <a:p>
            <a:pPr indent="-323850" lvl="1" marL="914400" rtl="0" algn="l">
              <a:spcBef>
                <a:spcPts val="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Training data: 2017 - 2024 (2191 days)</a:t>
            </a:r>
            <a:endParaRPr sz="1500">
              <a:latin typeface="Times New Roman"/>
              <a:ea typeface="Times New Roman"/>
              <a:cs typeface="Times New Roman"/>
              <a:sym typeface="Times New Roman"/>
            </a:endParaRPr>
          </a:p>
          <a:p>
            <a:pPr indent="-323850" lvl="1" marL="914400" rtl="0" algn="l">
              <a:spcBef>
                <a:spcPts val="0"/>
              </a:spcBef>
              <a:spcAft>
                <a:spcPts val="0"/>
              </a:spcAft>
              <a:buClr>
                <a:schemeClr val="dk1"/>
              </a:buClr>
              <a:buSzPts val="1500"/>
              <a:buFont typeface="Times New Roman"/>
              <a:buChar char="-"/>
            </a:pPr>
            <a:r>
              <a:rPr lang="en" sz="1500">
                <a:latin typeface="Times New Roman"/>
                <a:ea typeface="Times New Roman"/>
                <a:cs typeface="Times New Roman"/>
                <a:sym typeface="Times New Roman"/>
              </a:rPr>
              <a:t>Testing data: 2025 (366 days)</a:t>
            </a:r>
            <a:endParaRPr sz="15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Data Augmentation:</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Horizontal Flip, Vertical Flip, Horizontal + Vertical Flip on days with precipitation</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1 original data sample → 4 final data samples (1 original, 3 augmented)</a:t>
            </a:r>
            <a:endParaRPr>
              <a:latin typeface="Times New Roman"/>
              <a:ea typeface="Times New Roman"/>
              <a:cs typeface="Times New Roman"/>
              <a:sym typeface="Times New Roman"/>
            </a:endParaRPr>
          </a:p>
        </p:txBody>
      </p:sp>
      <p:pic>
        <p:nvPicPr>
          <p:cNvPr id="383" name="Google Shape;383;p45"/>
          <p:cNvPicPr preferRelativeResize="0"/>
          <p:nvPr/>
        </p:nvPicPr>
        <p:blipFill rotWithShape="1">
          <a:blip r:embed="rId3">
            <a:alphaModFix/>
          </a:blip>
          <a:srcRect b="0" l="26710" r="26528" t="0"/>
          <a:stretch/>
        </p:blipFill>
        <p:spPr>
          <a:xfrm>
            <a:off x="6381150" y="470649"/>
            <a:ext cx="2541179" cy="29666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7" name="Shape 387"/>
        <p:cNvGrpSpPr/>
        <p:nvPr/>
      </p:nvGrpSpPr>
      <p:grpSpPr>
        <a:xfrm>
          <a:off x="0" y="0"/>
          <a:ext cx="0" cy="0"/>
          <a:chOff x="0" y="0"/>
          <a:chExt cx="0" cy="0"/>
        </a:xfrm>
      </p:grpSpPr>
      <p:sp>
        <p:nvSpPr>
          <p:cNvPr id="388" name="Google Shape;388;p4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AlphaEarth Embeddings</a:t>
            </a:r>
            <a:endParaRPr>
              <a:latin typeface="Times New Roman"/>
              <a:ea typeface="Times New Roman"/>
              <a:cs typeface="Times New Roman"/>
              <a:sym typeface="Times New Roman"/>
            </a:endParaRPr>
          </a:p>
        </p:txBody>
      </p:sp>
      <p:pic>
        <p:nvPicPr>
          <p:cNvPr id="389" name="Google Shape;389;p46" title="illinois_4_bands_map_1.5625km.png"/>
          <p:cNvPicPr preferRelativeResize="0"/>
          <p:nvPr/>
        </p:nvPicPr>
        <p:blipFill>
          <a:blip r:embed="rId3">
            <a:alphaModFix/>
          </a:blip>
          <a:stretch>
            <a:fillRect/>
          </a:stretch>
        </p:blipFill>
        <p:spPr>
          <a:xfrm>
            <a:off x="3043461" y="1242300"/>
            <a:ext cx="3057074" cy="3290025"/>
          </a:xfrm>
          <a:prstGeom prst="rect">
            <a:avLst/>
          </a:prstGeom>
          <a:noFill/>
          <a:ln>
            <a:noFill/>
          </a:ln>
        </p:spPr>
      </p:pic>
      <p:pic>
        <p:nvPicPr>
          <p:cNvPr id="390" name="Google Shape;390;p46" title="illinois_4_bands_map_3.215km.png"/>
          <p:cNvPicPr preferRelativeResize="0"/>
          <p:nvPr/>
        </p:nvPicPr>
        <p:blipFill>
          <a:blip r:embed="rId4">
            <a:alphaModFix/>
          </a:blip>
          <a:stretch>
            <a:fillRect/>
          </a:stretch>
        </p:blipFill>
        <p:spPr>
          <a:xfrm>
            <a:off x="3043450" y="1242300"/>
            <a:ext cx="3057074" cy="3290010"/>
          </a:xfrm>
          <a:prstGeom prst="rect">
            <a:avLst/>
          </a:prstGeom>
          <a:noFill/>
          <a:ln>
            <a:noFill/>
          </a:ln>
        </p:spPr>
      </p:pic>
      <p:pic>
        <p:nvPicPr>
          <p:cNvPr id="391" name="Google Shape;391;p46" title="illinois_4_bands_map_6.25km.png"/>
          <p:cNvPicPr preferRelativeResize="0"/>
          <p:nvPr/>
        </p:nvPicPr>
        <p:blipFill>
          <a:blip r:embed="rId5">
            <a:alphaModFix/>
          </a:blip>
          <a:stretch>
            <a:fillRect/>
          </a:stretch>
        </p:blipFill>
        <p:spPr>
          <a:xfrm>
            <a:off x="3043463" y="1242307"/>
            <a:ext cx="3057074" cy="3289994"/>
          </a:xfrm>
          <a:prstGeom prst="rect">
            <a:avLst/>
          </a:prstGeom>
          <a:noFill/>
          <a:ln>
            <a:noFill/>
          </a:ln>
        </p:spPr>
      </p:pic>
      <p:pic>
        <p:nvPicPr>
          <p:cNvPr id="392" name="Google Shape;392;p46" title="illinois_4_bands_map_12.5km.png"/>
          <p:cNvPicPr preferRelativeResize="0"/>
          <p:nvPr/>
        </p:nvPicPr>
        <p:blipFill>
          <a:blip r:embed="rId6">
            <a:alphaModFix/>
          </a:blip>
          <a:stretch>
            <a:fillRect/>
          </a:stretch>
        </p:blipFill>
        <p:spPr>
          <a:xfrm>
            <a:off x="3043478" y="1242325"/>
            <a:ext cx="3057051" cy="3289974"/>
          </a:xfrm>
          <a:prstGeom prst="rect">
            <a:avLst/>
          </a:prstGeom>
          <a:noFill/>
          <a:ln>
            <a:noFill/>
          </a:ln>
        </p:spPr>
      </p:pic>
      <p:pic>
        <p:nvPicPr>
          <p:cNvPr id="393" name="Google Shape;393;p46" title="illinois_4_bands_map_25km.png"/>
          <p:cNvPicPr preferRelativeResize="0"/>
          <p:nvPr/>
        </p:nvPicPr>
        <p:blipFill>
          <a:blip r:embed="rId7">
            <a:alphaModFix/>
          </a:blip>
          <a:stretch>
            <a:fillRect/>
          </a:stretch>
        </p:blipFill>
        <p:spPr>
          <a:xfrm>
            <a:off x="3043473" y="1242301"/>
            <a:ext cx="3057051" cy="3289974"/>
          </a:xfrm>
          <a:prstGeom prst="rect">
            <a:avLst/>
          </a:prstGeom>
          <a:noFill/>
          <a:ln>
            <a:noFill/>
          </a:ln>
        </p:spPr>
      </p:pic>
      <p:pic>
        <p:nvPicPr>
          <p:cNvPr id="394" name="Google Shape;394;p46" title="illinois_4_bands_map_50km.png"/>
          <p:cNvPicPr preferRelativeResize="0"/>
          <p:nvPr/>
        </p:nvPicPr>
        <p:blipFill>
          <a:blip r:embed="rId8">
            <a:alphaModFix/>
          </a:blip>
          <a:stretch>
            <a:fillRect/>
          </a:stretch>
        </p:blipFill>
        <p:spPr>
          <a:xfrm>
            <a:off x="3043475" y="1242298"/>
            <a:ext cx="3057051" cy="32899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grpSp>
        <p:nvGrpSpPr>
          <p:cNvPr id="399" name="Google Shape;399;p47"/>
          <p:cNvGrpSpPr/>
          <p:nvPr/>
        </p:nvGrpSpPr>
        <p:grpSpPr>
          <a:xfrm>
            <a:off x="283800" y="-9470"/>
            <a:ext cx="8718300" cy="5143550"/>
            <a:chOff x="283800" y="-50"/>
            <a:chExt cx="8718300" cy="5143550"/>
          </a:xfrm>
        </p:grpSpPr>
        <p:cxnSp>
          <p:nvCxnSpPr>
            <p:cNvPr id="400" name="Google Shape;400;p47"/>
            <p:cNvCxnSpPr/>
            <p:nvPr/>
          </p:nvCxnSpPr>
          <p:spPr>
            <a:xfrm rot="10800000">
              <a:off x="9002100" y="1642500"/>
              <a:ext cx="0" cy="3501000"/>
            </a:xfrm>
            <a:prstGeom prst="straightConnector1">
              <a:avLst/>
            </a:prstGeom>
            <a:noFill/>
            <a:ln cap="flat" cmpd="sng" w="9525">
              <a:solidFill>
                <a:schemeClr val="dk1"/>
              </a:solidFill>
              <a:prstDash val="solid"/>
              <a:round/>
              <a:headEnd len="med" w="med" type="none"/>
              <a:tailEnd len="med" w="med" type="none"/>
            </a:ln>
          </p:spPr>
        </p:cxnSp>
        <p:cxnSp>
          <p:nvCxnSpPr>
            <p:cNvPr id="401" name="Google Shape;401;p47"/>
            <p:cNvCxnSpPr/>
            <p:nvPr/>
          </p:nvCxnSpPr>
          <p:spPr>
            <a:xfrm rot="10800000">
              <a:off x="283800" y="-50"/>
              <a:ext cx="0" cy="2631600"/>
            </a:xfrm>
            <a:prstGeom prst="straightConnector1">
              <a:avLst/>
            </a:prstGeom>
            <a:noFill/>
            <a:ln cap="flat" cmpd="sng" w="9525">
              <a:solidFill>
                <a:schemeClr val="dk1"/>
              </a:solidFill>
              <a:prstDash val="solid"/>
              <a:round/>
              <a:headEnd len="med" w="med" type="none"/>
              <a:tailEnd len="med" w="med" type="none"/>
            </a:ln>
          </p:spPr>
        </p:cxnSp>
      </p:grpSp>
      <p:sp>
        <p:nvSpPr>
          <p:cNvPr id="402" name="Google Shape;402;p47"/>
          <p:cNvSpPr txBox="1"/>
          <p:nvPr/>
        </p:nvSpPr>
        <p:spPr>
          <a:xfrm>
            <a:off x="942987" y="4527900"/>
            <a:ext cx="725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a:solidFill>
                  <a:schemeClr val="dk1"/>
                </a:solidFill>
                <a:latin typeface="Times New Roman"/>
                <a:ea typeface="Times New Roman"/>
                <a:cs typeface="Times New Roman"/>
                <a:sym typeface="Times New Roman"/>
              </a:rPr>
              <a:t>Note: Training target is log-space residual</a:t>
            </a:r>
            <a:endParaRPr>
              <a:solidFill>
                <a:schemeClr val="dk1"/>
              </a:solidFill>
              <a:latin typeface="Times New Roman"/>
              <a:ea typeface="Times New Roman"/>
              <a:cs typeface="Times New Roman"/>
              <a:sym typeface="Times New Roman"/>
            </a:endParaRPr>
          </a:p>
        </p:txBody>
      </p:sp>
      <p:pic>
        <p:nvPicPr>
          <p:cNvPr id="403" name="Google Shape;403;p47"/>
          <p:cNvPicPr preferRelativeResize="0"/>
          <p:nvPr/>
        </p:nvPicPr>
        <p:blipFill rotWithShape="1">
          <a:blip r:embed="rId3">
            <a:alphaModFix/>
          </a:blip>
          <a:srcRect b="0" l="0" r="0" t="7834"/>
          <a:stretch/>
        </p:blipFill>
        <p:spPr>
          <a:xfrm>
            <a:off x="818863" y="1108663"/>
            <a:ext cx="7648175" cy="3524275"/>
          </a:xfrm>
          <a:prstGeom prst="rect">
            <a:avLst/>
          </a:prstGeom>
          <a:noFill/>
          <a:ln>
            <a:noFill/>
          </a:ln>
        </p:spPr>
      </p:pic>
      <p:sp>
        <p:nvSpPr>
          <p:cNvPr id="404" name="Google Shape;404;p4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Training Data Construction</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grpSp>
        <p:nvGrpSpPr>
          <p:cNvPr id="409" name="Google Shape;409;p48"/>
          <p:cNvGrpSpPr/>
          <p:nvPr/>
        </p:nvGrpSpPr>
        <p:grpSpPr>
          <a:xfrm>
            <a:off x="283800" y="-9470"/>
            <a:ext cx="8718300" cy="5143550"/>
            <a:chOff x="283800" y="-50"/>
            <a:chExt cx="8718300" cy="5143550"/>
          </a:xfrm>
        </p:grpSpPr>
        <p:cxnSp>
          <p:nvCxnSpPr>
            <p:cNvPr id="410" name="Google Shape;410;p48"/>
            <p:cNvCxnSpPr/>
            <p:nvPr/>
          </p:nvCxnSpPr>
          <p:spPr>
            <a:xfrm rot="10800000">
              <a:off x="9002100" y="1642500"/>
              <a:ext cx="0" cy="3501000"/>
            </a:xfrm>
            <a:prstGeom prst="straightConnector1">
              <a:avLst/>
            </a:prstGeom>
            <a:noFill/>
            <a:ln cap="flat" cmpd="sng" w="9525">
              <a:solidFill>
                <a:schemeClr val="dk1"/>
              </a:solidFill>
              <a:prstDash val="solid"/>
              <a:round/>
              <a:headEnd len="med" w="med" type="none"/>
              <a:tailEnd len="med" w="med" type="none"/>
            </a:ln>
          </p:spPr>
        </p:cxnSp>
        <p:cxnSp>
          <p:nvCxnSpPr>
            <p:cNvPr id="411" name="Google Shape;411;p48"/>
            <p:cNvCxnSpPr/>
            <p:nvPr/>
          </p:nvCxnSpPr>
          <p:spPr>
            <a:xfrm rot="10800000">
              <a:off x="283800" y="-50"/>
              <a:ext cx="0" cy="2631600"/>
            </a:xfrm>
            <a:prstGeom prst="straightConnector1">
              <a:avLst/>
            </a:prstGeom>
            <a:noFill/>
            <a:ln cap="flat" cmpd="sng" w="9525">
              <a:solidFill>
                <a:schemeClr val="dk1"/>
              </a:solidFill>
              <a:prstDash val="solid"/>
              <a:round/>
              <a:headEnd len="med" w="med" type="none"/>
              <a:tailEnd len="med" w="med" type="none"/>
            </a:ln>
          </p:spPr>
        </p:cxnSp>
      </p:grpSp>
      <p:sp>
        <p:nvSpPr>
          <p:cNvPr id="412" name="Google Shape;412;p48"/>
          <p:cNvSpPr txBox="1"/>
          <p:nvPr>
            <p:ph type="title"/>
          </p:nvPr>
        </p:nvSpPr>
        <p:spPr>
          <a:xfrm>
            <a:off x="1107400" y="2834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Training Data Construction (cont.)</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pic>
        <p:nvPicPr>
          <p:cNvPr id="413" name="Google Shape;413;p48"/>
          <p:cNvPicPr preferRelativeResize="0"/>
          <p:nvPr/>
        </p:nvPicPr>
        <p:blipFill rotWithShape="1">
          <a:blip r:embed="rId3">
            <a:alphaModFix/>
          </a:blip>
          <a:srcRect b="3176" l="0" r="0" t="0"/>
          <a:stretch/>
        </p:blipFill>
        <p:spPr>
          <a:xfrm>
            <a:off x="481725" y="2381525"/>
            <a:ext cx="3059850" cy="2555175"/>
          </a:xfrm>
          <a:prstGeom prst="rect">
            <a:avLst/>
          </a:prstGeom>
          <a:noFill/>
          <a:ln>
            <a:noFill/>
          </a:ln>
        </p:spPr>
      </p:pic>
      <p:sp>
        <p:nvSpPr>
          <p:cNvPr id="414" name="Google Shape;414;p48"/>
          <p:cNvSpPr txBox="1"/>
          <p:nvPr/>
        </p:nvSpPr>
        <p:spPr>
          <a:xfrm>
            <a:off x="3645775" y="2749100"/>
            <a:ext cx="4887300" cy="21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mmissioner"/>
                <a:ea typeface="Commissioner"/>
                <a:cs typeface="Commissioner"/>
                <a:sym typeface="Commissioner"/>
              </a:rPr>
              <a:t>ERA5 vs. PRISM data as ground truth. Low correlation, and </a:t>
            </a:r>
            <a:r>
              <a:rPr lang="en">
                <a:solidFill>
                  <a:schemeClr val="dk1"/>
                </a:solidFill>
                <a:latin typeface="Commissioner"/>
                <a:ea typeface="Commissioner"/>
                <a:cs typeface="Commissioner"/>
                <a:sym typeface="Commissioner"/>
              </a:rPr>
              <a:t>shows the effects of ERA5’s bias and spatial displacement- underpredicting during high precipitation events and over predicting during lower precipitation events. </a:t>
            </a:r>
            <a:endParaRPr>
              <a:solidFill>
                <a:schemeClr val="dk1"/>
              </a:solidFill>
              <a:latin typeface="Commissioner"/>
              <a:ea typeface="Commissioner"/>
              <a:cs typeface="Commissioner"/>
              <a:sym typeface="Commissioner"/>
            </a:endParaRPr>
          </a:p>
        </p:txBody>
      </p:sp>
      <p:pic>
        <p:nvPicPr>
          <p:cNvPr id="415" name="Google Shape;415;p48"/>
          <p:cNvPicPr preferRelativeResize="0"/>
          <p:nvPr/>
        </p:nvPicPr>
        <p:blipFill>
          <a:blip r:embed="rId4">
            <a:alphaModFix/>
          </a:blip>
          <a:stretch>
            <a:fillRect/>
          </a:stretch>
        </p:blipFill>
        <p:spPr>
          <a:xfrm>
            <a:off x="481725" y="979138"/>
            <a:ext cx="8180548" cy="140238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9"/>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0F172A"/>
                </a:solidFill>
                <a:latin typeface="Times New Roman"/>
                <a:ea typeface="Times New Roman"/>
                <a:cs typeface="Times New Roman"/>
                <a:sym typeface="Times New Roman"/>
              </a:rPr>
              <a:t>Baseline Models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21" name="Google Shape;421;p49"/>
          <p:cNvSpPr txBox="1"/>
          <p:nvPr/>
        </p:nvSpPr>
        <p:spPr>
          <a:xfrm>
            <a:off x="859100" y="1589775"/>
            <a:ext cx="7812600" cy="3201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Commissioner"/>
              <a:buAutoNum type="arabicPeriod"/>
            </a:pPr>
            <a:r>
              <a:rPr b="1" lang="en">
                <a:solidFill>
                  <a:schemeClr val="dk1"/>
                </a:solidFill>
                <a:latin typeface="Commissioner"/>
                <a:ea typeface="Commissioner"/>
                <a:cs typeface="Commissioner"/>
                <a:sym typeface="Commissioner"/>
              </a:rPr>
              <a:t>Bicubic Interpolation</a:t>
            </a:r>
            <a:endParaRPr b="1">
              <a:solidFill>
                <a:schemeClr val="dk1"/>
              </a:solidFill>
              <a:latin typeface="Commissioner"/>
              <a:ea typeface="Commissioner"/>
              <a:cs typeface="Commissioner"/>
              <a:sym typeface="Commissioner"/>
            </a:endParaRPr>
          </a:p>
          <a:p>
            <a:pPr indent="-317500" lvl="1" marL="914400" rtl="0" algn="l">
              <a:spcBef>
                <a:spcPts val="0"/>
              </a:spcBef>
              <a:spcAft>
                <a:spcPts val="0"/>
              </a:spcAft>
              <a:buClr>
                <a:schemeClr val="dk1"/>
              </a:buClr>
              <a:buSzPts val="1400"/>
              <a:buFont typeface="Commissioner"/>
              <a:buAutoNum type="alphaLcPeriod"/>
            </a:pPr>
            <a:r>
              <a:rPr lang="en">
                <a:solidFill>
                  <a:schemeClr val="dk1"/>
                </a:solidFill>
                <a:latin typeface="Commissioner"/>
                <a:ea typeface="Commissioner"/>
                <a:cs typeface="Commissioner"/>
                <a:sym typeface="Commissioner"/>
              </a:rPr>
              <a:t>Simple lower bound</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t/>
            </a:r>
            <a:endParaRPr>
              <a:solidFill>
                <a:schemeClr val="dk1"/>
              </a:solidFill>
              <a:latin typeface="Commissioner"/>
              <a:ea typeface="Commissioner"/>
              <a:cs typeface="Commissioner"/>
              <a:sym typeface="Commissioner"/>
            </a:endParaRPr>
          </a:p>
          <a:p>
            <a:pPr indent="-317500" lvl="0" marL="457200" rtl="0" algn="l">
              <a:spcBef>
                <a:spcPts val="0"/>
              </a:spcBef>
              <a:spcAft>
                <a:spcPts val="0"/>
              </a:spcAft>
              <a:buClr>
                <a:schemeClr val="dk1"/>
              </a:buClr>
              <a:buSzPts val="1400"/>
              <a:buFont typeface="Commissioner"/>
              <a:buAutoNum type="arabicPeriod"/>
            </a:pPr>
            <a:r>
              <a:rPr b="1" lang="en">
                <a:solidFill>
                  <a:schemeClr val="dk1"/>
                </a:solidFill>
                <a:latin typeface="Commissioner"/>
                <a:ea typeface="Commissioner"/>
                <a:cs typeface="Commissioner"/>
                <a:sym typeface="Commissioner"/>
              </a:rPr>
              <a:t>XGBoost (No AEF)</a:t>
            </a:r>
            <a:endParaRPr b="1">
              <a:solidFill>
                <a:schemeClr val="dk1"/>
              </a:solidFill>
              <a:latin typeface="Commissioner"/>
              <a:ea typeface="Commissioner"/>
              <a:cs typeface="Commissioner"/>
              <a:sym typeface="Commissioner"/>
            </a:endParaRPr>
          </a:p>
          <a:p>
            <a:pPr indent="-317500" lvl="1" marL="914400" rtl="0" algn="l">
              <a:spcBef>
                <a:spcPts val="0"/>
              </a:spcBef>
              <a:spcAft>
                <a:spcPts val="0"/>
              </a:spcAft>
              <a:buClr>
                <a:schemeClr val="dk1"/>
              </a:buClr>
              <a:buSzPts val="1400"/>
              <a:buFont typeface="Commissioner"/>
              <a:buAutoNum type="alphaLcPeriod"/>
            </a:pPr>
            <a:r>
              <a:rPr lang="en">
                <a:solidFill>
                  <a:schemeClr val="dk1"/>
                </a:solidFill>
                <a:latin typeface="Commissioner"/>
                <a:ea typeface="Commissioner"/>
                <a:cs typeface="Commissioner"/>
                <a:sym typeface="Commissioner"/>
              </a:rPr>
              <a:t>Only 1 feature - log(1 + precipitation</a:t>
            </a:r>
            <a:r>
              <a:rPr baseline="-25000" lang="en">
                <a:solidFill>
                  <a:schemeClr val="dk1"/>
                </a:solidFill>
                <a:latin typeface="Commissioner"/>
                <a:ea typeface="Commissioner"/>
                <a:cs typeface="Commissioner"/>
                <a:sym typeface="Commissioner"/>
              </a:rPr>
              <a:t>coarse</a:t>
            </a:r>
            <a:r>
              <a:rPr lang="en">
                <a:solidFill>
                  <a:schemeClr val="dk1"/>
                </a:solidFill>
                <a:latin typeface="Commissioner"/>
                <a:ea typeface="Commissioner"/>
                <a:cs typeface="Commissioner"/>
                <a:sym typeface="Commissioner"/>
              </a:rPr>
              <a:t>)</a:t>
            </a:r>
            <a:endParaRPr>
              <a:solidFill>
                <a:schemeClr val="dk1"/>
              </a:solidFill>
              <a:latin typeface="Commissioner"/>
              <a:ea typeface="Commissioner"/>
              <a:cs typeface="Commissioner"/>
              <a:sym typeface="Commissioner"/>
            </a:endParaRPr>
          </a:p>
          <a:p>
            <a:pPr indent="-317500" lvl="1" marL="914400" rtl="0" algn="l">
              <a:spcBef>
                <a:spcPts val="0"/>
              </a:spcBef>
              <a:spcAft>
                <a:spcPts val="0"/>
              </a:spcAft>
              <a:buClr>
                <a:schemeClr val="dk1"/>
              </a:buClr>
              <a:buSzPts val="1400"/>
              <a:buFont typeface="Commissioner"/>
              <a:buAutoNum type="alphaLcPeriod"/>
            </a:pPr>
            <a:r>
              <a:rPr lang="en">
                <a:solidFill>
                  <a:schemeClr val="dk1"/>
                </a:solidFill>
                <a:latin typeface="Commissioner"/>
                <a:ea typeface="Commissioner"/>
                <a:cs typeface="Commissioner"/>
                <a:sym typeface="Commissioner"/>
              </a:rPr>
              <a:t>Target: log-space residual b/w fine grid and bicubic-interpolated coarse grid</a:t>
            </a:r>
            <a:endParaRPr>
              <a:solidFill>
                <a:schemeClr val="dk1"/>
              </a:solidFill>
              <a:latin typeface="Commissioner"/>
              <a:ea typeface="Commissioner"/>
              <a:cs typeface="Commissioner"/>
              <a:sym typeface="Commissioner"/>
            </a:endParaRPr>
          </a:p>
          <a:p>
            <a:pPr indent="-317500" lvl="1" marL="914400" rtl="0" algn="l">
              <a:spcBef>
                <a:spcPts val="0"/>
              </a:spcBef>
              <a:spcAft>
                <a:spcPts val="0"/>
              </a:spcAft>
              <a:buClr>
                <a:schemeClr val="dk1"/>
              </a:buClr>
              <a:buSzPts val="1400"/>
              <a:buFont typeface="Commissioner"/>
              <a:buAutoNum type="alphaLcPeriod"/>
            </a:pPr>
            <a:r>
              <a:rPr lang="en">
                <a:solidFill>
                  <a:schemeClr val="dk1"/>
                </a:solidFill>
                <a:latin typeface="Commissioner"/>
                <a:ea typeface="Commissioner"/>
                <a:cs typeface="Commissioner"/>
                <a:sym typeface="Commissioner"/>
              </a:rPr>
              <a:t>Hyper-parameters: max_depth = 3, min_child_weight = 50 (prevents overfitting)</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t/>
            </a:r>
            <a:endParaRPr>
              <a:solidFill>
                <a:schemeClr val="dk1"/>
              </a:solidFill>
              <a:latin typeface="Commissioner"/>
              <a:ea typeface="Commissioner"/>
              <a:cs typeface="Commissioner"/>
              <a:sym typeface="Commissioner"/>
            </a:endParaRPr>
          </a:p>
          <a:p>
            <a:pPr indent="-317500" lvl="0" marL="457200" rtl="0" algn="l">
              <a:spcBef>
                <a:spcPts val="0"/>
              </a:spcBef>
              <a:spcAft>
                <a:spcPts val="0"/>
              </a:spcAft>
              <a:buClr>
                <a:schemeClr val="dk1"/>
              </a:buClr>
              <a:buSzPts val="1400"/>
              <a:buFont typeface="Commissioner"/>
              <a:buAutoNum type="arabicPeriod"/>
            </a:pPr>
            <a:r>
              <a:rPr b="1" lang="en">
                <a:solidFill>
                  <a:schemeClr val="dk1"/>
                </a:solidFill>
                <a:latin typeface="Commissioner"/>
                <a:ea typeface="Commissioner"/>
                <a:cs typeface="Commissioner"/>
                <a:sym typeface="Commissioner"/>
              </a:rPr>
              <a:t>XGBoost + AEF</a:t>
            </a:r>
            <a:endParaRPr b="1">
              <a:solidFill>
                <a:schemeClr val="dk1"/>
              </a:solidFill>
              <a:latin typeface="Commissioner"/>
              <a:ea typeface="Commissioner"/>
              <a:cs typeface="Commissioner"/>
              <a:sym typeface="Commissioner"/>
            </a:endParaRPr>
          </a:p>
          <a:p>
            <a:pPr indent="-317500" lvl="1" marL="914400" rtl="0" algn="l">
              <a:spcBef>
                <a:spcPts val="0"/>
              </a:spcBef>
              <a:spcAft>
                <a:spcPts val="0"/>
              </a:spcAft>
              <a:buClr>
                <a:schemeClr val="dk1"/>
              </a:buClr>
              <a:buSzPts val="1400"/>
              <a:buFont typeface="Commissioner"/>
              <a:buAutoNum type="alphaLcPeriod"/>
            </a:pPr>
            <a:r>
              <a:rPr lang="en">
                <a:solidFill>
                  <a:schemeClr val="dk1"/>
                </a:solidFill>
                <a:latin typeface="Commissioner"/>
                <a:ea typeface="Commissioner"/>
                <a:cs typeface="Commissioner"/>
                <a:sym typeface="Commissioner"/>
              </a:rPr>
              <a:t>129 features - log(1 + precipitation</a:t>
            </a:r>
            <a:r>
              <a:rPr baseline="-25000" lang="en">
                <a:solidFill>
                  <a:schemeClr val="dk1"/>
                </a:solidFill>
                <a:latin typeface="Commissioner"/>
                <a:ea typeface="Commissioner"/>
                <a:cs typeface="Commissioner"/>
                <a:sym typeface="Commissioner"/>
              </a:rPr>
              <a:t>coarse</a:t>
            </a:r>
            <a:r>
              <a:rPr lang="en">
                <a:solidFill>
                  <a:schemeClr val="dk1"/>
                </a:solidFill>
                <a:latin typeface="Commissioner"/>
                <a:ea typeface="Commissioner"/>
                <a:cs typeface="Commissioner"/>
                <a:sym typeface="Commissioner"/>
              </a:rPr>
              <a:t>), 64-dim coarse AEF embedding, 64-dim fine AEF embedding</a:t>
            </a:r>
            <a:endParaRPr>
              <a:solidFill>
                <a:schemeClr val="dk1"/>
              </a:solidFill>
              <a:latin typeface="Commissioner"/>
              <a:ea typeface="Commissioner"/>
              <a:cs typeface="Commissioner"/>
              <a:sym typeface="Commissioner"/>
            </a:endParaRPr>
          </a:p>
          <a:p>
            <a:pPr indent="-317500" lvl="1" marL="914400" rtl="0" algn="l">
              <a:spcBef>
                <a:spcPts val="0"/>
              </a:spcBef>
              <a:spcAft>
                <a:spcPts val="0"/>
              </a:spcAft>
              <a:buClr>
                <a:schemeClr val="dk1"/>
              </a:buClr>
              <a:buSzPts val="1400"/>
              <a:buFont typeface="Commissioner"/>
              <a:buAutoNum type="alphaLcPeriod"/>
            </a:pPr>
            <a:r>
              <a:rPr lang="en">
                <a:solidFill>
                  <a:schemeClr val="dk1"/>
                </a:solidFill>
                <a:latin typeface="Commissioner"/>
                <a:ea typeface="Commissioner"/>
                <a:cs typeface="Commissioner"/>
                <a:sym typeface="Commissioner"/>
              </a:rPr>
              <a:t>Target: log-space residual b/w fine grid and bicubic-interpolated coarse grid</a:t>
            </a:r>
            <a:endParaRPr>
              <a:solidFill>
                <a:schemeClr val="dk1"/>
              </a:solidFill>
              <a:latin typeface="Commissioner"/>
              <a:ea typeface="Commissioner"/>
              <a:cs typeface="Commissioner"/>
              <a:sym typeface="Commissioner"/>
            </a:endParaRPr>
          </a:p>
          <a:p>
            <a:pPr indent="-317500" lvl="1" marL="914400" rtl="0" algn="l">
              <a:spcBef>
                <a:spcPts val="0"/>
              </a:spcBef>
              <a:spcAft>
                <a:spcPts val="0"/>
              </a:spcAft>
              <a:buClr>
                <a:schemeClr val="dk1"/>
              </a:buClr>
              <a:buSzPts val="1400"/>
              <a:buFont typeface="Commissioner"/>
              <a:buAutoNum type="alphaLcPeriod"/>
            </a:pPr>
            <a:r>
              <a:rPr lang="en">
                <a:solidFill>
                  <a:schemeClr val="dk1"/>
                </a:solidFill>
                <a:latin typeface="Commissioner"/>
                <a:ea typeface="Commissioner"/>
                <a:cs typeface="Commissioner"/>
                <a:sym typeface="Commissioner"/>
              </a:rPr>
              <a:t>Hyper-parameters: max_depth = 3, min_child_weight = 50 (prevents overfitting)</a:t>
            </a:r>
            <a:endParaRPr>
              <a:solidFill>
                <a:schemeClr val="dk1"/>
              </a:solidFill>
              <a:latin typeface="Commissioner"/>
              <a:ea typeface="Commissioner"/>
              <a:cs typeface="Commissioner"/>
              <a:sym typeface="Commissioner"/>
            </a:endParaRPr>
          </a:p>
          <a:p>
            <a:pPr indent="-317500" lvl="1" marL="914400" rtl="0" algn="l">
              <a:spcBef>
                <a:spcPts val="0"/>
              </a:spcBef>
              <a:spcAft>
                <a:spcPts val="0"/>
              </a:spcAft>
              <a:buClr>
                <a:schemeClr val="dk1"/>
              </a:buClr>
              <a:buSzPts val="1400"/>
              <a:buFont typeface="Commissioner"/>
              <a:buAutoNum type="alphaLcPeriod"/>
            </a:pPr>
            <a:r>
              <a:rPr lang="en">
                <a:solidFill>
                  <a:schemeClr val="dk1"/>
                </a:solidFill>
                <a:latin typeface="Commissioner"/>
                <a:ea typeface="Commissioner"/>
                <a:cs typeface="Commissioner"/>
                <a:sym typeface="Commissioner"/>
              </a:rPr>
              <a:t>Baseline comparison of potential improvement of geospatial context via embedding</a:t>
            </a:r>
            <a:endParaRPr>
              <a:solidFill>
                <a:schemeClr val="dk1"/>
              </a:solidFill>
              <a:latin typeface="Commissioner"/>
              <a:ea typeface="Commissioner"/>
              <a:cs typeface="Commissioner"/>
              <a:sym typeface="Commission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0"/>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Conditional Flow Matching Model</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0F172A"/>
              </a:solidFill>
              <a:latin typeface="Times New Roman"/>
              <a:ea typeface="Times New Roman"/>
              <a:cs typeface="Times New Roman"/>
              <a:sym typeface="Times New Roman"/>
            </a:endParaRPr>
          </a:p>
        </p:txBody>
      </p:sp>
      <p:sp>
        <p:nvSpPr>
          <p:cNvPr id="427" name="Google Shape;427;p50"/>
          <p:cNvSpPr txBox="1"/>
          <p:nvPr/>
        </p:nvSpPr>
        <p:spPr>
          <a:xfrm>
            <a:off x="6166850" y="1089800"/>
            <a:ext cx="279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Commissioner"/>
              <a:ea typeface="Commissioner"/>
              <a:cs typeface="Commissioner"/>
              <a:sym typeface="Commissioner"/>
            </a:endParaRPr>
          </a:p>
        </p:txBody>
      </p:sp>
      <p:pic>
        <p:nvPicPr>
          <p:cNvPr id="428" name="Google Shape;428;p50"/>
          <p:cNvPicPr preferRelativeResize="0"/>
          <p:nvPr/>
        </p:nvPicPr>
        <p:blipFill>
          <a:blip r:embed="rId3">
            <a:alphaModFix/>
          </a:blip>
          <a:stretch>
            <a:fillRect/>
          </a:stretch>
        </p:blipFill>
        <p:spPr>
          <a:xfrm>
            <a:off x="152400" y="1172950"/>
            <a:ext cx="5862048" cy="3633249"/>
          </a:xfrm>
          <a:prstGeom prst="rect">
            <a:avLst/>
          </a:prstGeom>
          <a:noFill/>
          <a:ln>
            <a:noFill/>
          </a:ln>
        </p:spPr>
      </p:pic>
      <p:sp>
        <p:nvSpPr>
          <p:cNvPr id="429" name="Google Shape;429;p50"/>
          <p:cNvSpPr txBox="1"/>
          <p:nvPr/>
        </p:nvSpPr>
        <p:spPr>
          <a:xfrm>
            <a:off x="6166850" y="1193775"/>
            <a:ext cx="29010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ommissioner"/>
                <a:ea typeface="Commissioner"/>
                <a:cs typeface="Commissioner"/>
                <a:sym typeface="Commissioner"/>
              </a:rPr>
              <a:t>We use the OT-CFM model from Tong et al. 2023a</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rPr lang="en">
                <a:solidFill>
                  <a:schemeClr val="dk1"/>
                </a:solidFill>
                <a:latin typeface="Commissioner"/>
                <a:ea typeface="Commissioner"/>
                <a:cs typeface="Commissioner"/>
                <a:sym typeface="Commissioner"/>
              </a:rPr>
              <a:t>Model Details</a:t>
            </a:r>
            <a:r>
              <a:rPr lang="en">
                <a:solidFill>
                  <a:schemeClr val="dk1"/>
                </a:solidFill>
                <a:latin typeface="Commissioner"/>
                <a:ea typeface="Commissioner"/>
                <a:cs typeface="Commissioner"/>
                <a:sym typeface="Commissioner"/>
              </a:rPr>
              <a:t>:</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rPr lang="en">
                <a:solidFill>
                  <a:schemeClr val="dk1"/>
                </a:solidFill>
                <a:latin typeface="Commissioner"/>
                <a:ea typeface="Commissioner"/>
                <a:cs typeface="Commissioner"/>
                <a:sym typeface="Commissioner"/>
              </a:rPr>
              <a:t>- [32, 64, 128] channels per level</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rPr lang="en">
                <a:solidFill>
                  <a:schemeClr val="dk1"/>
                </a:solidFill>
                <a:latin typeface="Commissioner"/>
                <a:ea typeface="Commissioner"/>
                <a:cs typeface="Commissioner"/>
                <a:sym typeface="Commissioner"/>
              </a:rPr>
              <a:t>- 2 attention heads per level</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rPr lang="en">
                <a:solidFill>
                  <a:schemeClr val="dk1"/>
                </a:solidFill>
                <a:latin typeface="Commissioner"/>
                <a:ea typeface="Commissioner"/>
                <a:cs typeface="Commissioner"/>
                <a:sym typeface="Commissioner"/>
              </a:rPr>
              <a:t>- SiLU activation</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rPr lang="en">
                <a:solidFill>
                  <a:schemeClr val="dk1"/>
                </a:solidFill>
                <a:latin typeface="Commissioner"/>
                <a:ea typeface="Commissioner"/>
                <a:cs typeface="Commissioner"/>
                <a:sym typeface="Commissioner"/>
              </a:rPr>
              <a:t>- AdamW Optimizer</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rPr lang="en">
                <a:solidFill>
                  <a:schemeClr val="dk1"/>
                </a:solidFill>
                <a:latin typeface="Commissioner"/>
                <a:ea typeface="Commissioner"/>
                <a:cs typeface="Commissioner"/>
                <a:sym typeface="Commissioner"/>
              </a:rPr>
              <a:t>- EMA decay = 0.9999</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t/>
            </a:r>
            <a:endParaRPr>
              <a:solidFill>
                <a:schemeClr val="dk1"/>
              </a:solidFill>
              <a:latin typeface="Commissioner"/>
              <a:ea typeface="Commissioner"/>
              <a:cs typeface="Commissioner"/>
              <a:sym typeface="Commissioner"/>
            </a:endParaRPr>
          </a:p>
          <a:p>
            <a:pPr indent="0" lvl="0" marL="0" rtl="0" algn="l">
              <a:spcBef>
                <a:spcPts val="0"/>
              </a:spcBef>
              <a:spcAft>
                <a:spcPts val="0"/>
              </a:spcAft>
              <a:buNone/>
            </a:pPr>
            <a:r>
              <a:t/>
            </a:r>
            <a:endParaRPr>
              <a:solidFill>
                <a:schemeClr val="dk1"/>
              </a:solidFill>
              <a:latin typeface="Commissioner"/>
              <a:ea typeface="Commissioner"/>
              <a:cs typeface="Commissioner"/>
              <a:sym typeface="Commission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51"/>
          <p:cNvPicPr preferRelativeResize="0"/>
          <p:nvPr/>
        </p:nvPicPr>
        <p:blipFill rotWithShape="1">
          <a:blip r:embed="rId3">
            <a:alphaModFix/>
          </a:blip>
          <a:srcRect b="0" l="0" r="0" t="12057"/>
          <a:stretch/>
        </p:blipFill>
        <p:spPr>
          <a:xfrm>
            <a:off x="623800" y="1109110"/>
            <a:ext cx="7896400" cy="3908366"/>
          </a:xfrm>
          <a:prstGeom prst="rect">
            <a:avLst/>
          </a:prstGeom>
          <a:noFill/>
          <a:ln>
            <a:noFill/>
          </a:ln>
        </p:spPr>
      </p:pic>
      <p:sp>
        <p:nvSpPr>
          <p:cNvPr id="435" name="Google Shape;435;p51"/>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Training Phases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0F172A"/>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52"/>
          <p:cNvPicPr preferRelativeResize="0"/>
          <p:nvPr/>
        </p:nvPicPr>
        <p:blipFill rotWithShape="1">
          <a:blip r:embed="rId3">
            <a:alphaModFix/>
          </a:blip>
          <a:srcRect b="9578" l="36484" r="0" t="13362"/>
          <a:stretch/>
        </p:blipFill>
        <p:spPr>
          <a:xfrm>
            <a:off x="1849538" y="1156887"/>
            <a:ext cx="5444927" cy="3717875"/>
          </a:xfrm>
          <a:prstGeom prst="rect">
            <a:avLst/>
          </a:prstGeom>
          <a:noFill/>
          <a:ln>
            <a:noFill/>
          </a:ln>
        </p:spPr>
      </p:pic>
      <p:sp>
        <p:nvSpPr>
          <p:cNvPr id="441" name="Google Shape;441;p52"/>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Ensemble Inference</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grpSp>
        <p:nvGrpSpPr>
          <p:cNvPr id="446" name="Google Shape;446;p53"/>
          <p:cNvGrpSpPr/>
          <p:nvPr/>
        </p:nvGrpSpPr>
        <p:grpSpPr>
          <a:xfrm>
            <a:off x="6670200" y="0"/>
            <a:ext cx="2473800" cy="4131000"/>
            <a:chOff x="6670200" y="0"/>
            <a:chExt cx="2473800" cy="4131000"/>
          </a:xfrm>
        </p:grpSpPr>
        <p:sp>
          <p:nvSpPr>
            <p:cNvPr id="447" name="Google Shape;447;p53"/>
            <p:cNvSpPr/>
            <p:nvPr/>
          </p:nvSpPr>
          <p:spPr>
            <a:xfrm flipH="1">
              <a:off x="667020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 name="Google Shape;448;p53"/>
            <p:cNvCxnSpPr/>
            <p:nvPr/>
          </p:nvCxnSpPr>
          <p:spPr>
            <a:xfrm rot="10800000">
              <a:off x="84327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449" name="Google Shape;449;p53"/>
          <p:cNvSpPr txBox="1"/>
          <p:nvPr>
            <p:ph type="title"/>
          </p:nvPr>
        </p:nvSpPr>
        <p:spPr>
          <a:xfrm flipH="1">
            <a:off x="2052825" y="2036300"/>
            <a:ext cx="5579100" cy="1477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450" name="Google Shape;450;p53"/>
          <p:cNvSpPr txBox="1"/>
          <p:nvPr>
            <p:ph idx="2" type="title"/>
          </p:nvPr>
        </p:nvSpPr>
        <p:spPr>
          <a:xfrm flipH="1">
            <a:off x="6555825" y="1012500"/>
            <a:ext cx="1076100" cy="87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Times New Roman"/>
                <a:ea typeface="Times New Roman"/>
                <a:cs typeface="Times New Roman"/>
                <a:sym typeface="Times New Roman"/>
              </a:rPr>
              <a:t>03</a:t>
            </a:r>
            <a:endParaRPr>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4"/>
          <p:cNvSpPr txBox="1"/>
          <p:nvPr>
            <p:ph idx="1" type="subTitle"/>
          </p:nvPr>
        </p:nvSpPr>
        <p:spPr>
          <a:xfrm>
            <a:off x="1106875" y="1628250"/>
            <a:ext cx="6781800" cy="188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Times New Roman"/>
                <a:ea typeface="Times New Roman"/>
                <a:cs typeface="Times New Roman"/>
                <a:sym typeface="Times New Roman"/>
              </a:rPr>
              <a:t>The CFM model didn’t work as well as we hoped! :(</a:t>
            </a:r>
            <a:endParaRPr sz="1600">
              <a:latin typeface="Times New Roman"/>
              <a:ea typeface="Times New Roman"/>
              <a:cs typeface="Times New Roman"/>
              <a:sym typeface="Times New Roman"/>
            </a:endParaRPr>
          </a:p>
          <a:p>
            <a:pPr indent="0" lvl="0" marL="0" rtl="0" algn="ctr">
              <a:spcBef>
                <a:spcPts val="0"/>
              </a:spcBef>
              <a:spcAft>
                <a:spcPts val="0"/>
              </a:spcAft>
              <a:buNone/>
            </a:pPr>
            <a:r>
              <a:t/>
            </a:r>
            <a:endParaRPr sz="1600">
              <a:latin typeface="Times New Roman"/>
              <a:ea typeface="Times New Roman"/>
              <a:cs typeface="Times New Roman"/>
              <a:sym typeface="Times New Roman"/>
            </a:endParaRPr>
          </a:p>
          <a:p>
            <a:pPr indent="0" lvl="0" marL="0" rtl="0" algn="ctr">
              <a:spcBef>
                <a:spcPts val="0"/>
              </a:spcBef>
              <a:spcAft>
                <a:spcPts val="0"/>
              </a:spcAft>
              <a:buNone/>
            </a:pPr>
            <a:r>
              <a:rPr lang="en" sz="1600">
                <a:latin typeface="Times New Roman"/>
                <a:ea typeface="Times New Roman"/>
                <a:cs typeface="Times New Roman"/>
                <a:sym typeface="Times New Roman"/>
              </a:rPr>
              <a:t>Turns out learning a purely data-driven and robust 2x super-resolution operator is kinda difficult!</a:t>
            </a:r>
            <a:endParaRPr sz="1600">
              <a:latin typeface="Times New Roman"/>
              <a:ea typeface="Times New Roman"/>
              <a:cs typeface="Times New Roman"/>
              <a:sym typeface="Times New Roman"/>
            </a:endParaRPr>
          </a:p>
          <a:p>
            <a:pPr indent="0" lvl="0" marL="0" rtl="0" algn="ctr">
              <a:spcBef>
                <a:spcPts val="0"/>
              </a:spcBef>
              <a:spcAft>
                <a:spcPts val="0"/>
              </a:spcAft>
              <a:buNone/>
            </a:pPr>
            <a:r>
              <a:t/>
            </a:r>
            <a:endParaRPr sz="1600">
              <a:latin typeface="Times New Roman"/>
              <a:ea typeface="Times New Roman"/>
              <a:cs typeface="Times New Roman"/>
              <a:sym typeface="Times New Roman"/>
            </a:endParaRPr>
          </a:p>
          <a:p>
            <a:pPr indent="0" lvl="0" marL="0" rtl="0" algn="ctr">
              <a:spcBef>
                <a:spcPts val="0"/>
              </a:spcBef>
              <a:spcAft>
                <a:spcPts val="0"/>
              </a:spcAft>
              <a:buNone/>
            </a:pPr>
            <a:r>
              <a:rPr lang="en" sz="1600">
                <a:latin typeface="Times New Roman"/>
                <a:ea typeface="Times New Roman"/>
                <a:cs typeface="Times New Roman"/>
                <a:sym typeface="Times New Roman"/>
              </a:rPr>
              <a:t>But it’s okay because we learned a lot and have areas of our project we can iterate and improve on! :)</a:t>
            </a:r>
            <a:endParaRPr sz="1600">
              <a:latin typeface="Times New Roman"/>
              <a:ea typeface="Times New Roman"/>
              <a:cs typeface="Times New Roman"/>
              <a:sym typeface="Times New Roman"/>
            </a:endParaRPr>
          </a:p>
        </p:txBody>
      </p:sp>
      <p:sp>
        <p:nvSpPr>
          <p:cNvPr id="456" name="Google Shape;456;p54"/>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Spoiler Alert</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5"/>
          <p:cNvSpPr txBox="1"/>
          <p:nvPr/>
        </p:nvSpPr>
        <p:spPr>
          <a:xfrm>
            <a:off x="832826" y="1080708"/>
            <a:ext cx="68367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rgbClr val="0A1628"/>
                </a:solidFill>
                <a:latin typeface="Times New Roman"/>
                <a:ea typeface="Times New Roman"/>
                <a:cs typeface="Times New Roman"/>
                <a:sym typeface="Times New Roman"/>
              </a:rPr>
              <a:t>Single-Step Downscaling (Pair A + Pair B)</a:t>
            </a:r>
            <a:endParaRPr sz="1500">
              <a:solidFill>
                <a:srgbClr val="0A1628"/>
              </a:solidFill>
              <a:latin typeface="Times New Roman"/>
              <a:ea typeface="Times New Roman"/>
              <a:cs typeface="Times New Roman"/>
              <a:sym typeface="Times New Roman"/>
            </a:endParaRPr>
          </a:p>
        </p:txBody>
      </p:sp>
      <p:pic>
        <p:nvPicPr>
          <p:cNvPr id="462" name="Google Shape;462;p55"/>
          <p:cNvPicPr preferRelativeResize="0"/>
          <p:nvPr/>
        </p:nvPicPr>
        <p:blipFill rotWithShape="1">
          <a:blip r:embed="rId3">
            <a:alphaModFix/>
          </a:blip>
          <a:srcRect b="9513" l="0" r="0" t="15344"/>
          <a:stretch/>
        </p:blipFill>
        <p:spPr>
          <a:xfrm>
            <a:off x="683175" y="1456099"/>
            <a:ext cx="7717501" cy="2454175"/>
          </a:xfrm>
          <a:prstGeom prst="rect">
            <a:avLst/>
          </a:prstGeom>
          <a:noFill/>
          <a:ln>
            <a:noFill/>
          </a:ln>
        </p:spPr>
      </p:pic>
      <p:sp>
        <p:nvSpPr>
          <p:cNvPr id="463" name="Google Shape;463;p55"/>
          <p:cNvSpPr txBox="1"/>
          <p:nvPr/>
        </p:nvSpPr>
        <p:spPr>
          <a:xfrm>
            <a:off x="973500" y="3910279"/>
            <a:ext cx="6836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latin typeface="Times New Roman"/>
                <a:ea typeface="Times New Roman"/>
                <a:cs typeface="Times New Roman"/>
                <a:sym typeface="Times New Roman"/>
              </a:rPr>
              <a:t>XGBoost + AEF gives the best overall single-step performance, improving RMSE and R² over both bicubic interpolation and XGBoost without AEF.</a:t>
            </a:r>
            <a:endParaRPr sz="1700">
              <a:latin typeface="Times New Roman"/>
              <a:ea typeface="Times New Roman"/>
              <a:cs typeface="Times New Roman"/>
              <a:sym typeface="Times New Roman"/>
            </a:endParaRPr>
          </a:p>
        </p:txBody>
      </p:sp>
      <p:sp>
        <p:nvSpPr>
          <p:cNvPr id="464" name="Google Shape;464;p55"/>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Baseline Model Results</a:t>
            </a: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6"/>
          <p:cNvSpPr txBox="1"/>
          <p:nvPr/>
        </p:nvSpPr>
        <p:spPr>
          <a:xfrm>
            <a:off x="298798" y="1116325"/>
            <a:ext cx="7291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0A1628"/>
                </a:solidFill>
                <a:latin typeface="Times New Roman"/>
                <a:ea typeface="Times New Roman"/>
                <a:cs typeface="Times New Roman"/>
                <a:sym typeface="Times New Roman"/>
              </a:rPr>
              <a:t>Recursive Ensemble Downscaling vs. PRISM </a:t>
            </a:r>
            <a:r>
              <a:rPr lang="en">
                <a:solidFill>
                  <a:srgbClr val="0A1628"/>
                </a:solidFill>
                <a:latin typeface="Times New Roman"/>
                <a:ea typeface="Times New Roman"/>
                <a:cs typeface="Times New Roman"/>
                <a:sym typeface="Times New Roman"/>
              </a:rPr>
              <a:t>(2025-01-09) </a:t>
            </a:r>
            <a:endParaRPr>
              <a:solidFill>
                <a:srgbClr val="0A1628"/>
              </a:solidFill>
              <a:latin typeface="Times New Roman"/>
              <a:ea typeface="Times New Roman"/>
              <a:cs typeface="Times New Roman"/>
              <a:sym typeface="Times New Roman"/>
            </a:endParaRPr>
          </a:p>
        </p:txBody>
      </p:sp>
      <p:pic>
        <p:nvPicPr>
          <p:cNvPr id="470" name="Google Shape;470;p56"/>
          <p:cNvPicPr preferRelativeResize="0"/>
          <p:nvPr/>
        </p:nvPicPr>
        <p:blipFill>
          <a:blip r:embed="rId3">
            <a:alphaModFix/>
          </a:blip>
          <a:stretch>
            <a:fillRect/>
          </a:stretch>
        </p:blipFill>
        <p:spPr>
          <a:xfrm>
            <a:off x="0" y="1516525"/>
            <a:ext cx="9144003" cy="2884296"/>
          </a:xfrm>
          <a:prstGeom prst="rect">
            <a:avLst/>
          </a:prstGeom>
          <a:noFill/>
          <a:ln>
            <a:noFill/>
          </a:ln>
        </p:spPr>
      </p:pic>
      <p:sp>
        <p:nvSpPr>
          <p:cNvPr id="471" name="Google Shape;471;p56"/>
          <p:cNvSpPr txBox="1"/>
          <p:nvPr/>
        </p:nvSpPr>
        <p:spPr>
          <a:xfrm>
            <a:off x="194518" y="4456622"/>
            <a:ext cx="87549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latin typeface="Times New Roman"/>
                <a:ea typeface="Times New Roman"/>
                <a:cs typeface="Times New Roman"/>
                <a:sym typeface="Times New Roman"/>
              </a:rPr>
              <a:t>Recursive downscaling increases spatial detail from 25 km to 1.56 km, with uncertainty gradually growing across steps, </a:t>
            </a:r>
            <a:r>
              <a:rPr lang="en" sz="1300">
                <a:latin typeface="Times New Roman"/>
                <a:ea typeface="Times New Roman"/>
                <a:cs typeface="Times New Roman"/>
                <a:sym typeface="Times New Roman"/>
              </a:rPr>
              <a:t>yet the final downscaled field differs substantially from PRISM truth indicating overprediction and bias between ERA5 and PRISM data</a:t>
            </a:r>
            <a:endParaRPr sz="1500">
              <a:latin typeface="Times New Roman"/>
              <a:ea typeface="Times New Roman"/>
              <a:cs typeface="Times New Roman"/>
              <a:sym typeface="Times New Roman"/>
            </a:endParaRPr>
          </a:p>
        </p:txBody>
      </p:sp>
      <p:sp>
        <p:nvSpPr>
          <p:cNvPr id="472" name="Google Shape;472;p56"/>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Baseline Model Results</a:t>
            </a:r>
            <a:endParaRPr>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7"/>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CFM Training Phases</a:t>
            </a:r>
            <a:endParaRPr>
              <a:latin typeface="Times New Roman"/>
              <a:ea typeface="Times New Roman"/>
              <a:cs typeface="Times New Roman"/>
              <a:sym typeface="Times New Roman"/>
            </a:endParaRPr>
          </a:p>
        </p:txBody>
      </p:sp>
      <p:pic>
        <p:nvPicPr>
          <p:cNvPr id="478" name="Google Shape;478;p57"/>
          <p:cNvPicPr preferRelativeResize="0"/>
          <p:nvPr/>
        </p:nvPicPr>
        <p:blipFill>
          <a:blip r:embed="rId3">
            <a:alphaModFix/>
          </a:blip>
          <a:stretch>
            <a:fillRect/>
          </a:stretch>
        </p:blipFill>
        <p:spPr>
          <a:xfrm>
            <a:off x="175262" y="1645350"/>
            <a:ext cx="2807835" cy="2339875"/>
          </a:xfrm>
          <a:prstGeom prst="rect">
            <a:avLst/>
          </a:prstGeom>
          <a:noFill/>
          <a:ln>
            <a:noFill/>
          </a:ln>
        </p:spPr>
      </p:pic>
      <p:pic>
        <p:nvPicPr>
          <p:cNvPr id="479" name="Google Shape;479;p57"/>
          <p:cNvPicPr preferRelativeResize="0"/>
          <p:nvPr/>
        </p:nvPicPr>
        <p:blipFill>
          <a:blip r:embed="rId4">
            <a:alphaModFix/>
          </a:blip>
          <a:stretch>
            <a:fillRect/>
          </a:stretch>
        </p:blipFill>
        <p:spPr>
          <a:xfrm>
            <a:off x="3260062" y="1645341"/>
            <a:ext cx="2807874" cy="2339885"/>
          </a:xfrm>
          <a:prstGeom prst="rect">
            <a:avLst/>
          </a:prstGeom>
          <a:noFill/>
          <a:ln>
            <a:noFill/>
          </a:ln>
        </p:spPr>
      </p:pic>
      <p:sp>
        <p:nvSpPr>
          <p:cNvPr id="480" name="Google Shape;480;p57"/>
          <p:cNvSpPr txBox="1"/>
          <p:nvPr/>
        </p:nvSpPr>
        <p:spPr>
          <a:xfrm>
            <a:off x="553468" y="1241250"/>
            <a:ext cx="20514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rgbClr val="0A1628"/>
                </a:solidFill>
                <a:latin typeface="Times New Roman"/>
                <a:ea typeface="Times New Roman"/>
                <a:cs typeface="Times New Roman"/>
                <a:sym typeface="Times New Roman"/>
              </a:rPr>
              <a:t>Phase 1 - 250 epochs</a:t>
            </a:r>
            <a:endParaRPr>
              <a:solidFill>
                <a:srgbClr val="0A1628"/>
              </a:solidFill>
              <a:latin typeface="Times New Roman"/>
              <a:ea typeface="Times New Roman"/>
              <a:cs typeface="Times New Roman"/>
              <a:sym typeface="Times New Roman"/>
            </a:endParaRPr>
          </a:p>
        </p:txBody>
      </p:sp>
      <p:sp>
        <p:nvSpPr>
          <p:cNvPr id="481" name="Google Shape;481;p57"/>
          <p:cNvSpPr txBox="1"/>
          <p:nvPr/>
        </p:nvSpPr>
        <p:spPr>
          <a:xfrm>
            <a:off x="3721224" y="1241250"/>
            <a:ext cx="21144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rgbClr val="0A1628"/>
                </a:solidFill>
                <a:latin typeface="Times New Roman"/>
                <a:ea typeface="Times New Roman"/>
                <a:cs typeface="Times New Roman"/>
                <a:sym typeface="Times New Roman"/>
              </a:rPr>
              <a:t>Phase 2 - 50 epochs</a:t>
            </a:r>
            <a:endParaRPr>
              <a:solidFill>
                <a:srgbClr val="0A1628"/>
              </a:solidFill>
              <a:latin typeface="Times New Roman"/>
              <a:ea typeface="Times New Roman"/>
              <a:cs typeface="Times New Roman"/>
              <a:sym typeface="Times New Roman"/>
            </a:endParaRPr>
          </a:p>
        </p:txBody>
      </p:sp>
      <p:sp>
        <p:nvSpPr>
          <p:cNvPr id="482" name="Google Shape;482;p57"/>
          <p:cNvSpPr txBox="1"/>
          <p:nvPr/>
        </p:nvSpPr>
        <p:spPr>
          <a:xfrm>
            <a:off x="6804575" y="1160925"/>
            <a:ext cx="20514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rgbClr val="0A1628"/>
                </a:solidFill>
                <a:latin typeface="Times New Roman"/>
                <a:ea typeface="Times New Roman"/>
                <a:cs typeface="Times New Roman"/>
                <a:sym typeface="Times New Roman"/>
              </a:rPr>
              <a:t>Phase 3 - 5 epochs</a:t>
            </a:r>
            <a:endParaRPr>
              <a:solidFill>
                <a:srgbClr val="0A1628"/>
              </a:solidFill>
              <a:latin typeface="Times New Roman"/>
              <a:ea typeface="Times New Roman"/>
              <a:cs typeface="Times New Roman"/>
              <a:sym typeface="Times New Roman"/>
            </a:endParaRPr>
          </a:p>
        </p:txBody>
      </p:sp>
      <p:sp>
        <p:nvSpPr>
          <p:cNvPr id="483" name="Google Shape;483;p57"/>
          <p:cNvSpPr txBox="1"/>
          <p:nvPr/>
        </p:nvSpPr>
        <p:spPr>
          <a:xfrm>
            <a:off x="293225" y="4170950"/>
            <a:ext cx="2571900" cy="8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Flow loss converges </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Test rmse_mean: 4.3642 </a:t>
            </a:r>
            <a:endParaRPr>
              <a:solidFill>
                <a:schemeClr val="dk1"/>
              </a:solidFill>
              <a:latin typeface="Times New Roman"/>
              <a:ea typeface="Times New Roman"/>
              <a:cs typeface="Times New Roman"/>
              <a:sym typeface="Times New Roman"/>
            </a:endParaRPr>
          </a:p>
        </p:txBody>
      </p:sp>
      <p:sp>
        <p:nvSpPr>
          <p:cNvPr id="484" name="Google Shape;484;p57"/>
          <p:cNvSpPr txBox="1"/>
          <p:nvPr/>
        </p:nvSpPr>
        <p:spPr>
          <a:xfrm>
            <a:off x="3378038" y="4182967"/>
            <a:ext cx="2571900" cy="32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No meaningful</a:t>
            </a:r>
            <a:r>
              <a:rPr lang="en">
                <a:solidFill>
                  <a:schemeClr val="dk1"/>
                </a:solidFill>
                <a:latin typeface="Times New Roman"/>
                <a:ea typeface="Times New Roman"/>
                <a:cs typeface="Times New Roman"/>
                <a:sym typeface="Times New Roman"/>
              </a:rPr>
              <a:t> loss convergence</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Test </a:t>
            </a:r>
            <a:r>
              <a:rPr lang="en">
                <a:solidFill>
                  <a:schemeClr val="dk1"/>
                </a:solidFill>
                <a:latin typeface="Times New Roman"/>
                <a:ea typeface="Times New Roman"/>
                <a:cs typeface="Times New Roman"/>
                <a:sym typeface="Times New Roman"/>
              </a:rPr>
              <a:t>rmse_mean: 4.2741</a:t>
            </a:r>
            <a:endParaRPr>
              <a:solidFill>
                <a:schemeClr val="dk1"/>
              </a:solidFill>
              <a:latin typeface="Times New Roman"/>
              <a:ea typeface="Times New Roman"/>
              <a:cs typeface="Times New Roman"/>
              <a:sym typeface="Times New Roman"/>
            </a:endParaRPr>
          </a:p>
        </p:txBody>
      </p:sp>
      <p:pic>
        <p:nvPicPr>
          <p:cNvPr id="485" name="Google Shape;485;p57"/>
          <p:cNvPicPr preferRelativeResize="0"/>
          <p:nvPr/>
        </p:nvPicPr>
        <p:blipFill>
          <a:blip r:embed="rId5">
            <a:alphaModFix/>
          </a:blip>
          <a:stretch>
            <a:fillRect/>
          </a:stretch>
        </p:blipFill>
        <p:spPr>
          <a:xfrm>
            <a:off x="6279425" y="1645338"/>
            <a:ext cx="2807874" cy="2339895"/>
          </a:xfrm>
          <a:prstGeom prst="rect">
            <a:avLst/>
          </a:prstGeom>
          <a:noFill/>
          <a:ln>
            <a:noFill/>
          </a:ln>
        </p:spPr>
      </p:pic>
      <p:sp>
        <p:nvSpPr>
          <p:cNvPr id="486" name="Google Shape;486;p57"/>
          <p:cNvSpPr txBox="1"/>
          <p:nvPr/>
        </p:nvSpPr>
        <p:spPr>
          <a:xfrm>
            <a:off x="6397400" y="4182967"/>
            <a:ext cx="2571900" cy="32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No meaningful loss convergence</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Test rmse_mean: 4.2740</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8"/>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CFM vs. Baselines</a:t>
            </a:r>
            <a:endParaRPr>
              <a:latin typeface="Times New Roman"/>
              <a:ea typeface="Times New Roman"/>
              <a:cs typeface="Times New Roman"/>
              <a:sym typeface="Times New Roman"/>
            </a:endParaRPr>
          </a:p>
        </p:txBody>
      </p:sp>
      <p:pic>
        <p:nvPicPr>
          <p:cNvPr id="492" name="Google Shape;492;p58"/>
          <p:cNvPicPr preferRelativeResize="0"/>
          <p:nvPr/>
        </p:nvPicPr>
        <p:blipFill>
          <a:blip r:embed="rId3">
            <a:alphaModFix/>
          </a:blip>
          <a:stretch>
            <a:fillRect/>
          </a:stretch>
        </p:blipFill>
        <p:spPr>
          <a:xfrm>
            <a:off x="0" y="1493793"/>
            <a:ext cx="9144003" cy="3080747"/>
          </a:xfrm>
          <a:prstGeom prst="rect">
            <a:avLst/>
          </a:prstGeom>
          <a:noFill/>
          <a:ln>
            <a:noFill/>
          </a:ln>
        </p:spPr>
      </p:pic>
      <p:sp>
        <p:nvSpPr>
          <p:cNvPr id="493" name="Google Shape;493;p58"/>
          <p:cNvSpPr txBox="1"/>
          <p:nvPr/>
        </p:nvSpPr>
        <p:spPr>
          <a:xfrm>
            <a:off x="250653" y="1103620"/>
            <a:ext cx="49128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0A1628"/>
                </a:solidFill>
                <a:latin typeface="Times New Roman"/>
                <a:ea typeface="Times New Roman"/>
                <a:cs typeface="Times New Roman"/>
                <a:sym typeface="Times New Roman"/>
              </a:rPr>
              <a:t>CFM </a:t>
            </a:r>
            <a:r>
              <a:rPr lang="en">
                <a:solidFill>
                  <a:srgbClr val="0A1628"/>
                </a:solidFill>
                <a:latin typeface="Times New Roman"/>
                <a:ea typeface="Times New Roman"/>
                <a:cs typeface="Times New Roman"/>
                <a:sym typeface="Times New Roman"/>
              </a:rPr>
              <a:t>Recursive Ensemble Downscaling vs. PRISM (2025-01-09) </a:t>
            </a:r>
            <a:endParaRPr>
              <a:solidFill>
                <a:srgbClr val="0A1628"/>
              </a:solidFill>
              <a:latin typeface="Times New Roman"/>
              <a:ea typeface="Times New Roman"/>
              <a:cs typeface="Times New Roman"/>
              <a:sym typeface="Times New Roman"/>
            </a:endParaRPr>
          </a:p>
        </p:txBody>
      </p:sp>
      <p:sp>
        <p:nvSpPr>
          <p:cNvPr id="494" name="Google Shape;494;p58"/>
          <p:cNvSpPr txBox="1"/>
          <p:nvPr/>
        </p:nvSpPr>
        <p:spPr>
          <a:xfrm>
            <a:off x="762000" y="4531900"/>
            <a:ext cx="762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Times New Roman"/>
                <a:ea typeface="Times New Roman"/>
                <a:cs typeface="Times New Roman"/>
                <a:sym typeface="Times New Roman"/>
              </a:rPr>
              <a:t>CFM </a:t>
            </a:r>
            <a:r>
              <a:rPr lang="en" sz="1200">
                <a:latin typeface="Times New Roman"/>
                <a:ea typeface="Times New Roman"/>
                <a:cs typeface="Times New Roman"/>
                <a:sym typeface="Times New Roman"/>
              </a:rPr>
              <a:t>produces a smoother and more conservative field that is much closer to PRISM, with a much lower RMSE of </a:t>
            </a:r>
            <a:r>
              <a:rPr b="1" lang="en" sz="1200">
                <a:latin typeface="Times New Roman"/>
                <a:ea typeface="Times New Roman"/>
                <a:cs typeface="Times New Roman"/>
                <a:sym typeface="Times New Roman"/>
              </a:rPr>
              <a:t>0.26 mm vs. 1.33mm </a:t>
            </a:r>
            <a:r>
              <a:rPr lang="en" sz="1200">
                <a:latin typeface="Times New Roman"/>
                <a:ea typeface="Times New Roman"/>
                <a:cs typeface="Times New Roman"/>
                <a:sym typeface="Times New Roman"/>
              </a:rPr>
              <a:t>in XGBoost</a:t>
            </a:r>
            <a:r>
              <a:rPr b="1" lang="en" sz="1200">
                <a:latin typeface="Times New Roman"/>
                <a:ea typeface="Times New Roman"/>
                <a:cs typeface="Times New Roman"/>
                <a:sym typeface="Times New Roman"/>
              </a:rPr>
              <a:t> </a:t>
            </a:r>
            <a:r>
              <a:rPr lang="en" sz="1200">
                <a:latin typeface="Times New Roman"/>
                <a:ea typeface="Times New Roman"/>
                <a:cs typeface="Times New Roman"/>
                <a:sym typeface="Times New Roman"/>
              </a:rPr>
              <a:t>in this example, although its spread decreases rather than grows across steps.</a:t>
            </a:r>
            <a:endParaRPr sz="12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9"/>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CFM vs. Baselines</a:t>
            </a:r>
            <a:endParaRPr>
              <a:latin typeface="Times New Roman"/>
              <a:ea typeface="Times New Roman"/>
              <a:cs typeface="Times New Roman"/>
              <a:sym typeface="Times New Roman"/>
            </a:endParaRPr>
          </a:p>
        </p:txBody>
      </p:sp>
      <p:pic>
        <p:nvPicPr>
          <p:cNvPr id="500" name="Google Shape;500;p59"/>
          <p:cNvPicPr preferRelativeResize="0"/>
          <p:nvPr/>
        </p:nvPicPr>
        <p:blipFill>
          <a:blip r:embed="rId3">
            <a:alphaModFix/>
          </a:blip>
          <a:stretch>
            <a:fillRect/>
          </a:stretch>
        </p:blipFill>
        <p:spPr>
          <a:xfrm>
            <a:off x="0" y="1110625"/>
            <a:ext cx="9144003" cy="3094119"/>
          </a:xfrm>
          <a:prstGeom prst="rect">
            <a:avLst/>
          </a:prstGeom>
          <a:noFill/>
          <a:ln>
            <a:noFill/>
          </a:ln>
        </p:spPr>
      </p:pic>
      <p:sp>
        <p:nvSpPr>
          <p:cNvPr id="501" name="Google Shape;501;p59"/>
          <p:cNvSpPr txBox="1"/>
          <p:nvPr/>
        </p:nvSpPr>
        <p:spPr>
          <a:xfrm>
            <a:off x="762000" y="4294825"/>
            <a:ext cx="762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Times New Roman"/>
                <a:ea typeface="Times New Roman"/>
                <a:cs typeface="Times New Roman"/>
                <a:sym typeface="Times New Roman"/>
              </a:rPr>
              <a:t>CFM is generally more accurate, it tends to produce </a:t>
            </a:r>
            <a:r>
              <a:rPr lang="en">
                <a:latin typeface="Times New Roman"/>
                <a:ea typeface="Times New Roman"/>
                <a:cs typeface="Times New Roman"/>
                <a:sym typeface="Times New Roman"/>
              </a:rPr>
              <a:t>conservative</a:t>
            </a:r>
            <a:r>
              <a:rPr lang="en">
                <a:latin typeface="Times New Roman"/>
                <a:ea typeface="Times New Roman"/>
                <a:cs typeface="Times New Roman"/>
                <a:sym typeface="Times New Roman"/>
              </a:rPr>
              <a:t>, uncertain ensembles, while XGBoost tends to overestimate with high certainty inflating its ensemble validation metrics. </a:t>
            </a:r>
            <a:endParaRPr sz="16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5" name="Shape 505"/>
        <p:cNvGrpSpPr/>
        <p:nvPr/>
      </p:nvGrpSpPr>
      <p:grpSpPr>
        <a:xfrm>
          <a:off x="0" y="0"/>
          <a:ext cx="0" cy="0"/>
          <a:chOff x="0" y="0"/>
          <a:chExt cx="0" cy="0"/>
        </a:xfrm>
      </p:grpSpPr>
      <p:sp>
        <p:nvSpPr>
          <p:cNvPr id="506" name="Google Shape;506;p60"/>
          <p:cNvSpPr txBox="1"/>
          <p:nvPr>
            <p:ph type="title"/>
          </p:nvPr>
        </p:nvSpPr>
        <p:spPr>
          <a:xfrm>
            <a:off x="713250" y="211775"/>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Verification in Data</a:t>
            </a:r>
            <a:endParaRPr>
              <a:latin typeface="Times New Roman"/>
              <a:ea typeface="Times New Roman"/>
              <a:cs typeface="Times New Roman"/>
              <a:sym typeface="Times New Roman"/>
            </a:endParaRPr>
          </a:p>
        </p:txBody>
      </p:sp>
      <p:sp>
        <p:nvSpPr>
          <p:cNvPr id="507" name="Google Shape;507;p60"/>
          <p:cNvSpPr txBox="1"/>
          <p:nvPr/>
        </p:nvSpPr>
        <p:spPr>
          <a:xfrm>
            <a:off x="871400" y="971125"/>
            <a:ext cx="7330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In 2025 (our test set):</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
                <a:solidFill>
                  <a:schemeClr val="dk1"/>
                </a:solidFill>
                <a:latin typeface="Times New Roman"/>
                <a:ea typeface="Times New Roman"/>
                <a:cs typeface="Times New Roman"/>
                <a:sym typeface="Times New Roman"/>
              </a:rPr>
              <a:t>16 </a:t>
            </a:r>
            <a:r>
              <a:rPr lang="en">
                <a:solidFill>
                  <a:schemeClr val="dk1"/>
                </a:solidFill>
                <a:latin typeface="Times New Roman"/>
                <a:ea typeface="Times New Roman"/>
                <a:cs typeface="Times New Roman"/>
                <a:sym typeface="Times New Roman"/>
              </a:rPr>
              <a:t>days recorded rain in ERA5 and PRISM</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
                <a:solidFill>
                  <a:schemeClr val="dk1"/>
                </a:solidFill>
                <a:latin typeface="Times New Roman"/>
                <a:ea typeface="Times New Roman"/>
                <a:cs typeface="Times New Roman"/>
                <a:sym typeface="Times New Roman"/>
              </a:rPr>
              <a:t>7 </a:t>
            </a:r>
            <a:r>
              <a:rPr lang="en">
                <a:solidFill>
                  <a:schemeClr val="dk1"/>
                </a:solidFill>
                <a:latin typeface="Times New Roman"/>
                <a:ea typeface="Times New Roman"/>
                <a:cs typeface="Times New Roman"/>
                <a:sym typeface="Times New Roman"/>
              </a:rPr>
              <a:t>days recorded in only in ERA5</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
                <a:solidFill>
                  <a:schemeClr val="dk1"/>
                </a:solidFill>
                <a:latin typeface="Times New Roman"/>
                <a:ea typeface="Times New Roman"/>
                <a:cs typeface="Times New Roman"/>
                <a:sym typeface="Times New Roman"/>
              </a:rPr>
              <a:t>209</a:t>
            </a:r>
            <a:r>
              <a:rPr lang="en">
                <a:solidFill>
                  <a:schemeClr val="dk1"/>
                </a:solidFill>
                <a:latin typeface="Times New Roman"/>
                <a:ea typeface="Times New Roman"/>
                <a:cs typeface="Times New Roman"/>
                <a:sym typeface="Times New Roman"/>
              </a:rPr>
              <a:t> days recorded rain only in PRISM</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
                <a:solidFill>
                  <a:schemeClr val="dk1"/>
                </a:solidFill>
                <a:latin typeface="Times New Roman"/>
                <a:ea typeface="Times New Roman"/>
                <a:cs typeface="Times New Roman"/>
                <a:sym typeface="Times New Roman"/>
              </a:rPr>
              <a:t>127</a:t>
            </a:r>
            <a:r>
              <a:rPr lang="en">
                <a:solidFill>
                  <a:schemeClr val="dk1"/>
                </a:solidFill>
                <a:latin typeface="Times New Roman"/>
                <a:ea typeface="Times New Roman"/>
                <a:cs typeface="Times New Roman"/>
                <a:sym typeface="Times New Roman"/>
              </a:rPr>
              <a:t> days recorded no rain in </a:t>
            </a:r>
            <a:r>
              <a:rPr lang="en">
                <a:solidFill>
                  <a:schemeClr val="dk1"/>
                </a:solidFill>
                <a:latin typeface="Times New Roman"/>
                <a:ea typeface="Times New Roman"/>
                <a:cs typeface="Times New Roman"/>
                <a:sym typeface="Times New Roman"/>
              </a:rPr>
              <a:t>ERA5 and PRISM</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There is a massive difference in how these two datasets record rain!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Treating PRISM as the </a:t>
            </a:r>
            <a:r>
              <a:rPr lang="en">
                <a:solidFill>
                  <a:schemeClr val="dk1"/>
                </a:solidFill>
                <a:latin typeface="Times New Roman"/>
                <a:ea typeface="Times New Roman"/>
                <a:cs typeface="Times New Roman"/>
                <a:sym typeface="Times New Roman"/>
              </a:rPr>
              <a:t>ground-truth, ERA5 has a clear dry bias - it only records 7% of rainy days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grpSp>
        <p:nvGrpSpPr>
          <p:cNvPr id="512" name="Google Shape;512;p61"/>
          <p:cNvGrpSpPr/>
          <p:nvPr/>
        </p:nvGrpSpPr>
        <p:grpSpPr>
          <a:xfrm>
            <a:off x="6670200" y="0"/>
            <a:ext cx="2473800" cy="4131000"/>
            <a:chOff x="6670200" y="0"/>
            <a:chExt cx="2473800" cy="4131000"/>
          </a:xfrm>
        </p:grpSpPr>
        <p:sp>
          <p:nvSpPr>
            <p:cNvPr id="513" name="Google Shape;513;p61"/>
            <p:cNvSpPr/>
            <p:nvPr/>
          </p:nvSpPr>
          <p:spPr>
            <a:xfrm flipH="1">
              <a:off x="6670200" y="1012500"/>
              <a:ext cx="24738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 name="Google Shape;514;p61"/>
            <p:cNvCxnSpPr/>
            <p:nvPr/>
          </p:nvCxnSpPr>
          <p:spPr>
            <a:xfrm rot="10800000">
              <a:off x="8432750" y="0"/>
              <a:ext cx="0" cy="4131000"/>
            </a:xfrm>
            <a:prstGeom prst="straightConnector1">
              <a:avLst/>
            </a:prstGeom>
            <a:noFill/>
            <a:ln cap="flat" cmpd="sng" w="9525">
              <a:solidFill>
                <a:schemeClr val="dk1"/>
              </a:solidFill>
              <a:prstDash val="solid"/>
              <a:round/>
              <a:headEnd len="med" w="med" type="none"/>
              <a:tailEnd len="med" w="med" type="none"/>
            </a:ln>
          </p:spPr>
        </p:cxnSp>
      </p:grpSp>
      <p:sp>
        <p:nvSpPr>
          <p:cNvPr id="515" name="Google Shape;515;p61"/>
          <p:cNvSpPr txBox="1"/>
          <p:nvPr>
            <p:ph type="title"/>
          </p:nvPr>
        </p:nvSpPr>
        <p:spPr>
          <a:xfrm flipH="1">
            <a:off x="2052725" y="2036300"/>
            <a:ext cx="6478500" cy="1477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latin typeface="Times New Roman"/>
                <a:ea typeface="Times New Roman"/>
                <a:cs typeface="Times New Roman"/>
                <a:sym typeface="Times New Roman"/>
              </a:rPr>
              <a:t>Next Steps</a:t>
            </a:r>
            <a:endParaRPr>
              <a:latin typeface="Times New Roman"/>
              <a:ea typeface="Times New Roman"/>
              <a:cs typeface="Times New Roman"/>
              <a:sym typeface="Times New Roman"/>
            </a:endParaRPr>
          </a:p>
        </p:txBody>
      </p:sp>
      <p:sp>
        <p:nvSpPr>
          <p:cNvPr id="516" name="Google Shape;516;p61"/>
          <p:cNvSpPr txBox="1"/>
          <p:nvPr>
            <p:ph idx="2" type="title"/>
          </p:nvPr>
        </p:nvSpPr>
        <p:spPr>
          <a:xfrm flipH="1">
            <a:off x="6555825" y="1012500"/>
            <a:ext cx="1076100" cy="870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latin typeface="Times New Roman"/>
                <a:ea typeface="Times New Roman"/>
                <a:cs typeface="Times New Roman"/>
                <a:sym typeface="Times New Roman"/>
              </a:rPr>
              <a:t>04</a:t>
            </a:r>
            <a:endParaRPr>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2"/>
          <p:cNvSpPr txBox="1"/>
          <p:nvPr/>
        </p:nvSpPr>
        <p:spPr>
          <a:xfrm>
            <a:off x="1955125" y="972550"/>
            <a:ext cx="4381500" cy="39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Commissioner"/>
              <a:ea typeface="Commissioner"/>
              <a:cs typeface="Commissioner"/>
              <a:sym typeface="Commissioner"/>
            </a:endParaRPr>
          </a:p>
        </p:txBody>
      </p:sp>
      <p:sp>
        <p:nvSpPr>
          <p:cNvPr id="522" name="Google Shape;522;p62"/>
          <p:cNvSpPr txBox="1"/>
          <p:nvPr/>
        </p:nvSpPr>
        <p:spPr>
          <a:xfrm>
            <a:off x="859075" y="1079575"/>
            <a:ext cx="79518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Our data is severely limited! We have </a:t>
            </a:r>
            <a:r>
              <a:rPr b="1" lang="en" sz="1600">
                <a:solidFill>
                  <a:schemeClr val="dk1"/>
                </a:solidFill>
                <a:latin typeface="Times New Roman"/>
                <a:ea typeface="Times New Roman"/>
                <a:cs typeface="Times New Roman"/>
                <a:sym typeface="Times New Roman"/>
              </a:rPr>
              <a:t>5600 (augmented ) training samples</a:t>
            </a:r>
            <a:r>
              <a:rPr lang="en" sz="1600">
                <a:solidFill>
                  <a:schemeClr val="dk1"/>
                </a:solidFill>
                <a:latin typeface="Times New Roman"/>
                <a:ea typeface="Times New Roman"/>
                <a:cs typeface="Times New Roman"/>
                <a:sym typeface="Times New Roman"/>
              </a:rPr>
              <a:t> for a ~3M parameter model.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Downloading/pre-processing AEF embeddings is </a:t>
            </a:r>
            <a:r>
              <a:rPr lang="en" sz="1600">
                <a:solidFill>
                  <a:schemeClr val="dk1"/>
                </a:solidFill>
                <a:latin typeface="Times New Roman"/>
                <a:ea typeface="Times New Roman"/>
                <a:cs typeface="Times New Roman"/>
                <a:sym typeface="Times New Roman"/>
              </a:rPr>
              <a:t>prohibitively</a:t>
            </a:r>
            <a:r>
              <a:rPr lang="en" sz="1600">
                <a:solidFill>
                  <a:schemeClr val="dk1"/>
                </a:solidFill>
                <a:latin typeface="Times New Roman"/>
                <a:ea typeface="Times New Roman"/>
                <a:cs typeface="Times New Roman"/>
                <a:sym typeface="Times New Roman"/>
              </a:rPr>
              <a:t> slow, which is why we restricted our spatial region initially</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We are only training and testing the Illinois </a:t>
            </a:r>
            <a:r>
              <a:rPr lang="en" sz="1600">
                <a:solidFill>
                  <a:schemeClr val="dk1"/>
                </a:solidFill>
                <a:latin typeface="Times New Roman"/>
                <a:ea typeface="Times New Roman"/>
                <a:cs typeface="Times New Roman"/>
                <a:sym typeface="Times New Roman"/>
              </a:rPr>
              <a:t>terrain</a:t>
            </a:r>
            <a:r>
              <a:rPr lang="en" sz="1600">
                <a:solidFill>
                  <a:schemeClr val="dk1"/>
                </a:solidFill>
                <a:latin typeface="Times New Roman"/>
                <a:ea typeface="Times New Roman"/>
                <a:cs typeface="Times New Roman"/>
                <a:sym typeface="Times New Roman"/>
              </a:rPr>
              <a:t>, m</a:t>
            </a:r>
            <a:r>
              <a:rPr lang="en" sz="1600">
                <a:solidFill>
                  <a:schemeClr val="dk1"/>
                </a:solidFill>
                <a:latin typeface="Times New Roman"/>
                <a:ea typeface="Times New Roman"/>
                <a:cs typeface="Times New Roman"/>
                <a:sym typeface="Times New Roman"/>
              </a:rPr>
              <a:t>ight be good to extend spatial region to Midwest or CONUS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5600 training data samples are not enough for complex models (AEF is only available from 2017-present)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Extend Training Phase 3 for more epochs to see any improvement in validation against PRISM, though we would need to monitor for catastrophic forgetting.</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We need to investigate why the loss never decreased in this phase</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523" name="Google Shape;523;p62"/>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Limitations + Areas to Improve</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3"/>
          <p:cNvSpPr txBox="1"/>
          <p:nvPr/>
        </p:nvSpPr>
        <p:spPr>
          <a:xfrm>
            <a:off x="1955125" y="972550"/>
            <a:ext cx="4381500" cy="39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Commissioner"/>
              <a:ea typeface="Commissioner"/>
              <a:cs typeface="Commissioner"/>
              <a:sym typeface="Commissioner"/>
            </a:endParaRPr>
          </a:p>
        </p:txBody>
      </p:sp>
      <p:sp>
        <p:nvSpPr>
          <p:cNvPr id="529" name="Google Shape;529;p63"/>
          <p:cNvSpPr txBox="1"/>
          <p:nvPr/>
        </p:nvSpPr>
        <p:spPr>
          <a:xfrm>
            <a:off x="869775" y="1154500"/>
            <a:ext cx="79518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Times New Roman"/>
              <a:buChar char="-"/>
            </a:pPr>
            <a:r>
              <a:t/>
            </a:r>
            <a:endParaRPr>
              <a:solidFill>
                <a:schemeClr val="dk1"/>
              </a:solidFill>
              <a:latin typeface="Times New Roman"/>
              <a:ea typeface="Times New Roman"/>
              <a:cs typeface="Times New Roman"/>
              <a:sym typeface="Times New Roman"/>
            </a:endParaRPr>
          </a:p>
        </p:txBody>
      </p:sp>
      <p:sp>
        <p:nvSpPr>
          <p:cNvPr id="530" name="Google Shape;530;p63"/>
          <p:cNvSpPr txBox="1"/>
          <p:nvPr>
            <p:ph type="title"/>
          </p:nvPr>
        </p:nvSpPr>
        <p:spPr>
          <a:xfrm>
            <a:off x="713238"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Future Work</a:t>
            </a:r>
            <a:endParaRPr>
              <a:latin typeface="Times New Roman"/>
              <a:ea typeface="Times New Roman"/>
              <a:cs typeface="Times New Roman"/>
              <a:sym typeface="Times New Roman"/>
            </a:endParaRPr>
          </a:p>
        </p:txBody>
      </p:sp>
      <p:sp>
        <p:nvSpPr>
          <p:cNvPr id="531" name="Google Shape;531;p63"/>
          <p:cNvSpPr txBox="1"/>
          <p:nvPr/>
        </p:nvSpPr>
        <p:spPr>
          <a:xfrm>
            <a:off x="859075" y="1099628"/>
            <a:ext cx="79518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Try an inherently stochastic model like diffusion to compare its CRPS and other ensemble coverage metrics with the CFM model</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Ablation experiments with different foundation model embeddings (Olmo, Prithvi-EO-2.0, Clay, TESSERA, etc.)</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This would also allow us to extend the temporal range to pre-2017 (AEF is only available from 2017-present)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Generalized scaling during downscaling steps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Currently trained on 50 km → 25 km → 12.5 km…</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Validate intermediate generation steps with other ground-truth datasets (or coarsified PRISM)</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4"/>
          <p:cNvSpPr txBox="1"/>
          <p:nvPr>
            <p:ph type="ctrTitle"/>
          </p:nvPr>
        </p:nvSpPr>
        <p:spPr>
          <a:xfrm>
            <a:off x="713225" y="1194450"/>
            <a:ext cx="7480500" cy="221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latin typeface="Times New Roman"/>
                <a:ea typeface="Times New Roman"/>
                <a:cs typeface="Times New Roman"/>
                <a:sym typeface="Times New Roman"/>
              </a:rPr>
              <a:t>Thank You!</a:t>
            </a:r>
            <a:endParaRPr i="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